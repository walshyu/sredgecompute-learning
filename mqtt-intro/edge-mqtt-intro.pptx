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96a91cdeb2437d" /><Relationship Type="http://schemas.openxmlformats.org/officeDocument/2006/relationships/extended-properties" Target="/docProps/app.xml" Id="R1dd8722f6f2a4b08" /><Relationship Type="http://schemas.openxmlformats.org/officeDocument/2006/relationships/officeDocument" Target="/ppt/presentation.xml" Id="Ra4f18aa82dd044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46c182fed64ab5"/>
  </p:sldMasterIdLst>
  <p:notesMasterIdLst>
    <p:notesMasterId xmlns:r="http://schemas.openxmlformats.org/officeDocument/2006/relationships" r:id="R003ee50173ee4556"/>
  </p:notesMasterIdLst>
  <p:sldIdLst>
    <p:sldId xmlns:r="http://schemas.openxmlformats.org/officeDocument/2006/relationships" id="256" r:id="R820750185e6d4e1a"/>
    <p:sldId xmlns:r="http://schemas.openxmlformats.org/officeDocument/2006/relationships" id="257" r:id="R4be3ca0bd24d493d"/>
    <p:sldId xmlns:r="http://schemas.openxmlformats.org/officeDocument/2006/relationships" id="258" r:id="R371dbb55f8994eb1"/>
    <p:sldId xmlns:r="http://schemas.openxmlformats.org/officeDocument/2006/relationships" id="259" r:id="R52a55e8b50ce40bf"/>
    <p:sldId xmlns:r="http://schemas.openxmlformats.org/officeDocument/2006/relationships" id="260" r:id="R64bce3e34d8d4040"/>
    <p:sldId xmlns:r="http://schemas.openxmlformats.org/officeDocument/2006/relationships" id="261" r:id="R8e245c41d18d425b"/>
    <p:sldId xmlns:r="http://schemas.openxmlformats.org/officeDocument/2006/relationships" id="262" r:id="Rcbf7b6aa8ddf49c2"/>
    <p:sldId xmlns:r="http://schemas.openxmlformats.org/officeDocument/2006/relationships" id="263" r:id="Re9ca145d3adb4865"/>
    <p:sldId xmlns:r="http://schemas.openxmlformats.org/officeDocument/2006/relationships" id="264" r:id="R6f734b40b0de4a7d"/>
    <p:sldId xmlns:r="http://schemas.openxmlformats.org/officeDocument/2006/relationships" id="265" r:id="Rbc6b459db8ae46a3"/>
    <p:sldId xmlns:r="http://schemas.openxmlformats.org/officeDocument/2006/relationships" id="266" r:id="R457094ddbfe34e61"/>
    <p:sldId xmlns:r="http://schemas.openxmlformats.org/officeDocument/2006/relationships" id="267" r:id="R79a3ad3e28944ec6"/>
    <p:sldId xmlns:r="http://schemas.openxmlformats.org/officeDocument/2006/relationships" id="268" r:id="Rc23a3bc8bfe746c8"/>
    <p:sldId xmlns:r="http://schemas.openxmlformats.org/officeDocument/2006/relationships" id="269" r:id="R08c96f99f27d4f3e"/>
    <p:sldId xmlns:r="http://schemas.openxmlformats.org/officeDocument/2006/relationships" id="270" r:id="Ra35d90c17ba040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542a71f4d749e9" /><Relationship Type="http://schemas.openxmlformats.org/officeDocument/2006/relationships/slideMaster" Target="/ppt/slideMasters/slideMaster1.xml" Id="R5146c182fed64ab5" /><Relationship Type="http://schemas.openxmlformats.org/officeDocument/2006/relationships/notesMaster" Target="/ppt/notesMasters/notesMaster1.xml" Id="R003ee50173ee4556" /><Relationship Type="http://schemas.openxmlformats.org/officeDocument/2006/relationships/presProps" Target="/ppt/presProps.xml" Id="R9a83bee6b3474c58" /><Relationship Type="http://schemas.openxmlformats.org/officeDocument/2006/relationships/tableStyles" Target="/ppt/tableStyles.xml" Id="R6bf8a787eed04417" /><Relationship Type="http://schemas.openxmlformats.org/officeDocument/2006/relationships/slide" Target="/ppt/slides/slide1.xml" Id="R820750185e6d4e1a" /><Relationship Type="http://schemas.openxmlformats.org/officeDocument/2006/relationships/slide" Target="/ppt/slides/slide2.xml" Id="R4be3ca0bd24d493d" /><Relationship Type="http://schemas.openxmlformats.org/officeDocument/2006/relationships/slide" Target="/ppt/slides/slide3.xml" Id="R371dbb55f8994eb1" /><Relationship Type="http://schemas.openxmlformats.org/officeDocument/2006/relationships/slide" Target="/ppt/slides/slide4.xml" Id="R52a55e8b50ce40bf" /><Relationship Type="http://schemas.openxmlformats.org/officeDocument/2006/relationships/slide" Target="/ppt/slides/slide5.xml" Id="R64bce3e34d8d4040" /><Relationship Type="http://schemas.openxmlformats.org/officeDocument/2006/relationships/slide" Target="/ppt/slides/slide6.xml" Id="R8e245c41d18d425b" /><Relationship Type="http://schemas.openxmlformats.org/officeDocument/2006/relationships/slide" Target="/ppt/slides/slide7.xml" Id="Rcbf7b6aa8ddf49c2" /><Relationship Type="http://schemas.openxmlformats.org/officeDocument/2006/relationships/slide" Target="/ppt/slides/slide8.xml" Id="Re9ca145d3adb4865" /><Relationship Type="http://schemas.openxmlformats.org/officeDocument/2006/relationships/slide" Target="/ppt/slides/slide9.xml" Id="R6f734b40b0de4a7d" /><Relationship Type="http://schemas.openxmlformats.org/officeDocument/2006/relationships/slide" Target="/ppt/slides/slide10.xml" Id="Rbc6b459db8ae46a3" /><Relationship Type="http://schemas.openxmlformats.org/officeDocument/2006/relationships/slide" Target="/ppt/slides/slide11.xml" Id="R457094ddbfe34e61" /><Relationship Type="http://schemas.openxmlformats.org/officeDocument/2006/relationships/slide" Target="/ppt/slides/slide12.xml" Id="R79a3ad3e28944ec6" /><Relationship Type="http://schemas.openxmlformats.org/officeDocument/2006/relationships/slide" Target="/ppt/slides/slide13.xml" Id="Rc23a3bc8bfe746c8" /><Relationship Type="http://schemas.openxmlformats.org/officeDocument/2006/relationships/slide" Target="/ppt/slides/slide14.xml" Id="R08c96f99f27d4f3e" /><Relationship Type="http://schemas.openxmlformats.org/officeDocument/2006/relationships/slide" Target="/ppt/slides/slide15.xml" Id="Ra35d90c17ba040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4bbc083ef643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5839d908344504" /><Relationship Type="http://schemas.openxmlformats.org/officeDocument/2006/relationships/notesMaster" Target="/ppt/notesMasters/notesMaster1.xml" Id="R6c4f9929e63041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a4f6bd09b149d8" /><Relationship Type="http://schemas.openxmlformats.org/officeDocument/2006/relationships/notesMaster" Target="/ppt/notesMasters/notesMaster1.xml" Id="Rf68929d49d0340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734f59903d487e" /><Relationship Type="http://schemas.openxmlformats.org/officeDocument/2006/relationships/notesMaster" Target="/ppt/notesMasters/notesMaster1.xml" Id="Rabdf93141e7149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517ec948b0412d" /><Relationship Type="http://schemas.openxmlformats.org/officeDocument/2006/relationships/notesMaster" Target="/ppt/notesMasters/notesMaster1.xml" Id="Rc6f4540a3d074a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879218add741b4" /><Relationship Type="http://schemas.openxmlformats.org/officeDocument/2006/relationships/notesMaster" Target="/ppt/notesMasters/notesMaster1.xml" Id="Ra9c7177b4b084f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cf30d295ea44ee" /><Relationship Type="http://schemas.openxmlformats.org/officeDocument/2006/relationships/notesMaster" Target="/ppt/notesMasters/notesMaster1.xml" Id="Rf1fc4b89803c4f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cc3c271914496d" /><Relationship Type="http://schemas.openxmlformats.org/officeDocument/2006/relationships/notesMaster" Target="/ppt/notesMasters/notesMaster1.xml" Id="Rb0f0847715e345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a2950a16994c33" /><Relationship Type="http://schemas.openxmlformats.org/officeDocument/2006/relationships/notesMaster" Target="/ppt/notesMasters/notesMaster1.xml" Id="R8eeb6e35224e42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92e0b0b9764409" /><Relationship Type="http://schemas.openxmlformats.org/officeDocument/2006/relationships/notesMaster" Target="/ppt/notesMasters/notesMaster1.xml" Id="R4144e0229c8e4c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15f629cb034ca1" /><Relationship Type="http://schemas.openxmlformats.org/officeDocument/2006/relationships/notesMaster" Target="/ppt/notesMasters/notesMaster1.xml" Id="R683cd63420bb4c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98dc91a8824572" /><Relationship Type="http://schemas.openxmlformats.org/officeDocument/2006/relationships/notesMaster" Target="/ppt/notesMasters/notesMaster1.xml" Id="Rc102dabe770a4e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963420736a4ac7" /><Relationship Type="http://schemas.openxmlformats.org/officeDocument/2006/relationships/notesMaster" Target="/ppt/notesMasters/notesMaster1.xml" Id="Rc25897c8ee544e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7efb8700b34808" /><Relationship Type="http://schemas.openxmlformats.org/officeDocument/2006/relationships/notesMaster" Target="/ppt/notesMasters/notesMaster1.xml" Id="R4d77d630e7ac4b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0e508f07bf457a" /><Relationship Type="http://schemas.openxmlformats.org/officeDocument/2006/relationships/notesMaster" Target="/ppt/notesMasters/notesMaster1.xml" Id="Rdb1d37bcf66648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5e003030f44e22" /><Relationship Type="http://schemas.openxmlformats.org/officeDocument/2006/relationships/notesMaster" Target="/ppt/notesMasters/notesMaster1.xml" Id="R7293aad83ac74e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页：边缘侧 MQTT 通信入门</a:t>
            </a:r>
          </a:p>
          <a:p xmlns:a="http://schemas.openxmlformats.org/drawingml/2006/main">
            <a:r>
              <a:t>建议时间：45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今天主要介绍边缘侧的 MQTT 通信，以及理解通信链路所需的几个基础功能。我们围绕三个问题展开：边缘程序在系统中做什么，消息怎样从后端到达边缘程序，设备状态又怎样返回。后面会用一条走行命令串起整个过程。这里讲的是源码里的实现，不是现场设备的验收结果；复杂的堆取料策略和 PLC 字节协议不在这次展开。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先建立消息流向，再看类名和方法，能避免把文件清单背下来却不知道它们如何合作。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MQTT 只负责通信的一部分；边缘侧还要把业务数据转换成 PLC 能理解的数据。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问：这次和原版有什么区别？</a:t>
            </a:r>
          </a:p>
          <a:p xmlns:a="http://schemas.openxmlformats.org/drawingml/2006/main">
            <a:r>
              <a:t>答：原版覆盖完整源码与复杂控制；本版把主线收窄到 MQTT，加上配置、队列、状态映射和周期控制等基础知识。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先确定边缘程序在整个系统中的位置。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S01: Edge/SREdgeCompute_TCP/SREdgeCompute_TCP/Program.cs:28  [static void Main]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S10: Edge/SREdgeCompute_TCP/SREdgeCompute_TCP/Service/EdgeToPlcService.cs:30  [public EdgeToPlcService]</a:t>
            </a:r>
          </a:p>
          <a:p xmlns:a="http://schemas.openxmlformats.org/drawingml/2006/main">
            <a:r>
              <a:t>S11: Edge/SREdgeCompute_TCP/SREdgeCompute_TCP/Service/PlcToEdgeService.cs:34  [private void CatchData]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页：边缘侧连接业务后端与 PLC</a:t>
            </a:r>
          </a:p>
          <a:p xmlns:a="http://schemas.openxmlformats.org/drawingml/2006/main">
            <a:r>
              <a:t>建议时间：75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可以把边缘程序理解成连接业务系统和设备控制系统的适配层。后端发来的是“要做什么”，例如给出一个走行目标；边缘程序根据命令名称找到处理方法，并组织 PLC 所需的数据。反过来，PLC 返回的是设备状态，边缘程序把它整理成业务对象，再通过 MQTT 发出去。要特别注意：这套项目不是用 MQTT 直接控制 PLC，MQTT 到边缘程序为止，边缘到 PLC 走的是自定义 TCP 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协议不同、数据含义不同，需要一个适配层。业务 JSON 不能直接当作 PLC 报文发送。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Broker 负责消息路由，不负责替项目解释走行目标，也不负责执行机械动作。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问：边缘侧就是 MQTT Broker 吗？</a:t>
            </a:r>
          </a:p>
          <a:p xmlns:a="http://schemas.openxmlformats.org/drawingml/2006/main">
            <a:r>
              <a:t>答：不是。边缘程序是 MQTT 客户端，既订阅命令，也发布状态；Broker 是接收并转发这些消息的服务。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知道它的角色后，用六个入口定位相关代码。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S04: Edge/SREdgeCompute_TCP/SREdgeCompute_TCP/Client/TCPClient.cs:95  [private async Task ReceiveStream]</a:t>
            </a:r>
          </a:p>
          <a:p xmlns:a="http://schemas.openxmlformats.org/drawingml/2006/main">
            <a:r>
              <a:t>S08: Edge/SREdgeCompute_TCP/SREdgeCompute_TCP/Service/CommandService.cs:104  [public async Task DistributeCommand]</a:t>
            </a:r>
          </a:p>
          <a:p xmlns:a="http://schemas.openxmlformats.org/drawingml/2006/main">
            <a:r>
              <a:t>S10: Edge/SREdgeCompute_TCP/SREdgeCompute_TCP/Service/EdgeToPlcService.cs:30  [public EdgeToPlcService]</a:t>
            </a:r>
          </a:p>
          <a:p xmlns:a="http://schemas.openxmlformats.org/drawingml/2006/main">
            <a:r>
              <a:t>S11: Edge/SREdgeCompute_TCP/SREdgeCompute_TCP/Service/PlcToEdgeService.cs:34  [private void CatchData]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页：六个入口看懂通信主线</a:t>
            </a:r>
          </a:p>
          <a:p xmlns:a="http://schemas.openxmlformats.org/drawingml/2006/main">
            <a:r>
              <a:t>建议时间：65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这一页不要求记住所有目录，只要知道遇到问题去哪里找。连接地址和主题先看 App.config，由 ConfigService 读取。真正封装 MQTT 的是 Client 目录下的 MqttClient。接收命令之后，CommandQueueService 解析并入队，后台消费服务再调用 CommandService 分发。上行看 PlcToEdgeService，它把 PLC 数据变成状态对象。周期控制则看 EdgeToPlcService。文件名中 To 的方向很直观：谁到谁，就表示数据流向。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通信封装与业务处理分开，阅读时可以先确定消息收到了没有，再追踪它被怎样处理。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表中是六个阅读入口，不是项目只有六个文件；后台消费还涉及 CommandQueueBackgroundService，命令查找涉及 CommandRegistry。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问：从哪个文件开始最容易？</a:t>
            </a:r>
          </a:p>
          <a:p xmlns:a="http://schemas.openxmlformats.org/drawingml/2006/main">
            <a:r>
              <a:t>答：先看配置和 MqttClient，再沿 MessageReceived 事件进入队列，最后看一条具体命令；上行单独从 PlcToEdgeService.CatchData 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接下来先用最少的概念解释 MQTT。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S02: Edge/SREdgeCompute_TCP/SREdgeCompute_TCP/App.config:1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S05: Edge/SREdgeCompute_TCP/SREdgeCompute_TCP/Service/CommandQueueService.cs:30  [private void EnqueueCommand]</a:t>
            </a:r>
          </a:p>
          <a:p xmlns:a="http://schemas.openxmlformats.org/drawingml/2006/main">
            <a:r>
              <a:t>S06: Edge/SREdgeCompute_TCP/SREdgeCompute_TCP/Service/CommandQueueBackgroundService.cs:15  [protected override async Task ExecuteAsync]</a:t>
            </a:r>
          </a:p>
          <a:p xmlns:a="http://schemas.openxmlformats.org/drawingml/2006/main">
            <a:r>
              <a:t>S07: Edge/SREdgeCompute_TCP/SREdgeCompute_TCP/Infrastructure/Commands/CommandRegistry.cs:35  [public int ScanAndRegister]</a:t>
            </a:r>
          </a:p>
          <a:p xmlns:a="http://schemas.openxmlformats.org/drawingml/2006/main">
            <a:r>
              <a:t>S08: Edge/SREdgeCompute_TCP/SREdgeCompute_TCP/Service/CommandService.cs:104  [public async Task DistributeCommand]</a:t>
            </a:r>
          </a:p>
          <a:p xmlns:a="http://schemas.openxmlformats.org/drawingml/2006/main">
            <a:r>
              <a:t>S10: Edge/SREdgeCompute_TCP/SREdgeCompute_TCP/Service/EdgeToPlcService.cs:30  [public EdgeToPlcService]</a:t>
            </a:r>
          </a:p>
          <a:p xmlns:a="http://schemas.openxmlformats.org/drawingml/2006/main">
            <a:r>
              <a:t>S11: Edge/SREdgeCompute_TCP/SREdgeCompute_TCP/Service/PlcToEdgeService.cs:34  [private void CatchData]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页：MQTT 按主题发布与订阅</a:t>
            </a:r>
          </a:p>
          <a:p xmlns:a="http://schemas.openxmlformats.org/drawingml/2006/main">
            <a:r>
              <a:t>建议时间：85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MQTT 的核心是发布订阅。客户端先连接 Broker，再订阅自己关心的主题。发布者把一条消息交给 Broker，里面包含主题和负载，Broker 根据订阅关系转发。主题可以理解为消息分类，例如命令和状态分别使用不同主题；负载才是实际业务内容。MQTT 本身不规定负载必须是 JSON，JSON 是这个项目使用的格式。一台客户端可以同时承担发布者和订阅者：边缘侧订阅命令，同时又发布设备状态。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发送者不用逐个维护接收者地址，而是面向主题发送，这减少了双方的直接依赖。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Topic 不是文件路径，也不是 HTTP 接口；名称看起来有斜杠，是因为 MQTT 用它划分主题层级。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问：是不是只要连上 Broker 就能收到所有消息？</a:t>
            </a:r>
          </a:p>
          <a:p xmlns:a="http://schemas.openxmlformats.org/drawingml/2006/main">
            <a:r>
              <a:t>答：不是。正常业务消息需要有匹配的订阅关系，并且部署中的访问权限也要允许。连接成功不等于所有主题都订阅成功。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把这些概念对应到项目的五个实际主题。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W01: OASIS MQTT 3.1.1 标准 §3.1–3.3、§3.8、§4.3、§4.7：https://docs.oasis-open.org/mqtt/mqtt/v3.1.1/os/mqtt-v3.1.1-os.html （访问 2026-08-28）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页：五个 Topic 分清数据方向</a:t>
            </a:r>
          </a:p>
          <a:p xmlns:a="http://schemas.openxmlformats.org/drawingml/2006/main">
            <a:r>
              <a:t>建议时间：90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这五个主题可以分为两组。边缘侧订阅的是 CMD 和毫米波数据；边缘侧发布的是 STATE、RETURN 和 HeartBeat。CMD 表示希望设备做什么，STATE 表示设备当前是什么状态，RETURN 表示某条命令的处理结果，HeartBeat 用来观察状态链路是否仍在到达。最后一个毫米波主题属于外部数据输入，接收后直接更新相关控制数据，不走普通命令队列。当前源码能确认接收路径，外部发布者的具体实现没有在目标代码中找到。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把命令、状态、回执分开，消费者可以按用途订阅，不必在同一种消息里猜测含义。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 是当前设备标识的一部分，主题字符串还包含开头的斜杠与大小写；这些都必须匹配，不能随意省略。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问：边缘需要先订阅 STATE 才能发布 STATE 吗？</a:t>
            </a:r>
          </a:p>
          <a:p xmlns:a="http://schemas.openxmlformats.org/drawingml/2006/main">
            <a:r>
              <a:t>答：不需要。发布与订阅是独立操作；边缘可以发布状态，而只订阅命令和毫米波主题。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这些订阅在程序启动时如何建立？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S02: Edge/SREdgeCompute_TCP/SREdgeCompute_TCP/App.config:1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S05: Edge/SREdgeCompute_TCP/SREdgeCompute_TCP/Service/CommandQueueService.cs:30  [private void EnqueueCommand]</a:t>
            </a:r>
          </a:p>
          <a:p xmlns:a="http://schemas.openxmlformats.org/drawingml/2006/main">
            <a:r>
              <a:t>S15: Edge/SREdgeCompute_TCP/SREdgeCompute_TCP/Service/CommandService.cs:186  [public async Task SetMMWData]</a:t>
            </a:r>
          </a:p>
          <a:p xmlns:a="http://schemas.openxmlformats.org/drawingml/2006/main">
            <a:r>
              <a:t>W01: OASIS MQTT 3.1.1 标准 §3.1–3.3、§3.8、§4.3、§4.7：https://docs.oasis-open.org/mqtt/mqtt/v3.1.1/os/mqtt-v3.1.1-os.html （访问 2026-08-28）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页：连接后订阅命令与毫米波主题</a:t>
            </a:r>
          </a:p>
          <a:p xmlns:a="http://schemas.openxmlformats.org/drawingml/2006/main">
            <a:r>
              <a:t>建议时间：85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源码先创建 ManagedMqttClient，也就是带托管连接能力的客户端，再填入 Broker 地址、端口和 ClientId，并设置五秒自动重连延迟。随后绑定连接、失败、状态变化和消息接收事件，调用 StartAsync。连接成功事件触发后，AddTopicSubscription 再订阅命令和毫米波主题。这里要区分“代码开始尝试连接”和“连接已经成功”：当前调用 StartAsync 时没有等待它完成，所以不能仅凭初始化日志就断言已经连上 Broker，还要看连接事件与实际订阅情况。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把订阅挂在连接事件上，可以在重新连接后再次进入订阅流程；托管客户端负责维护连接和订阅工作。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五秒是配置的重连延迟，不是每次断线必定五秒恢复；网络、Broker 和连接尝试本身都会影响恢复时间。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问：为什么程序启动了却没有消息？</a:t>
            </a:r>
          </a:p>
          <a:p xmlns:a="http://schemas.openxmlformats.org/drawingml/2006/main">
            <a:r>
              <a:t>答：启动只说明进程在运行。还要分开确认 Broker 连接、主题订阅、对端发布以及本地消息处理是否正常。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先记住最常用的几个配置值。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页：配置先看地址、身份与投递等级</a:t>
            </a:r>
          </a:p>
          <a:p xmlns:a="http://schemas.openxmlformats.org/drawingml/2006/main">
            <a:r>
              <a:t>建议时间：90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配置里最先看三个东西：连到哪里、我是谁、消息用什么投递等级。127.0.0.1 指运行边缘程序的这台机器，不是任意一台远端服务器；如果 Broker 在另一台机器，部署时就需要正确地址。EdgeC3 是客户端身份，在同一个 Broker 上应避免被别的在线客户端重复使用。当前发布和订阅没有显式传入 QoS，所用库版本的默认值是零，也就是至多一次，没有 MQTT 层面的发布确认。因此不能把正常返回的发送方法理解成对方已经处理成功。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MQTT 连接依靠 ClientId 区分客户端。重复身份可能导致已有连接被断开，因此它和主题中的 C3 是不同概念。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QoS 0 是当前库调用默认产生的事实；源码没有说明选择它的设计理由，不能擅自说成经过可靠性权衡的结论。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问：换成 QoS 1 就能保证设备执行成功吗？</a:t>
            </a:r>
          </a:p>
          <a:p xmlns:a="http://schemas.openxmlformats.org/drawingml/2006/main">
            <a:r>
              <a:t>答：不能。QoS 1 提供至少一次的消息投递语义，仍可能重复；业务执行、去重和设备动作结果需要应用自己处理。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下面沿一条命令，看看接收以后发生了什么。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S02: Edge/SREdgeCompute_TCP/SREdgeCompute_TCP/App.config:1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S38: Edge/SREdgeCompute_TCP/SREdgeCompute_TCP/SREdgeCompute_TCP.csproj:1</a:t>
            </a:r>
          </a:p>
          <a:p xmlns:a="http://schemas.openxmlformats.org/drawingml/2006/main">
            <a:r>
              <a:t>W01: OASIS MQTT 3.1.1 标准 §3.1–3.3、§3.8、§4.3、§4.7：https://docs.oasis-open.org/mqtt/mqtt/v3.1.1/os/mqtt-v3.1.1-os.html （访问 2026-08-28）</a:t>
            </a:r>
          </a:p>
          <a:p xmlns:a="http://schemas.openxmlformats.org/drawingml/2006/main">
            <a:r>
              <a:t>W02: MQTTnet v4.3.6.1152 ManagedMqttClientExtensions.cs：https://raw.githubusercontent.com/dotnet/MQTTnet/v4.3.6.1152/Source/MQTTnet.Extensions.ManagedClient/ManagedMqttClientExtensions.cs （访问 2026-08-28）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页：命令下行经过接收、排队与处理</a:t>
            </a:r>
          </a:p>
          <a:p xmlns:a="http://schemas.openxmlformats.org/drawingml/2006/main">
            <a:r>
              <a:t>建议时间：90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收到 MQTT 消息只是第一步。MqttClient 的回调先把负载按 UTF-8 转为文本，再通过 MessageReceived 通知业务层。CommandQueueService 根据主题分支处理：如果是 CMD，就把 JSON 转成 CommandModel，放入内存队列。后台服务从队列取出命令，等待 CommandService 根据 Cmd 名称执行对应方法。不同方法有不同实现，有的修改共享控制结构，等待周期发送，有的直接组织命令并走 TCP。注意，这里的“依次执行”是软件处理流程，不代表设备已经逐条完成了机械动作。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队列把网络接收与命令处理分开，业务方法不必全部堆在 MQTT 回调里；当前实现由后台消费者串行等待。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这是进程内存队列，不应把它描述成已经具备重启后恢复或消息永久保存能力。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问：所有 MQTT 输入都进这个队列吗？</a:t>
            </a:r>
          </a:p>
          <a:p xmlns:a="http://schemas.openxmlformats.org/drawingml/2006/main">
            <a:r>
              <a:t>答：不是。毫米波主题有单独分支，调用 SetMMWData 更新数据，不进入普通 CMD 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用一个具体 JSON 看清消息内容。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S05: Edge/SREdgeCompute_TCP/SREdgeCompute_TCP/Service/CommandQueueService.cs:30  [private void EnqueueCommand]</a:t>
            </a:r>
          </a:p>
          <a:p xmlns:a="http://schemas.openxmlformats.org/drawingml/2006/main">
            <a:r>
              <a:t>S06: Edge/SREdgeCompute_TCP/SREdgeCompute_TCP/Service/CommandQueueBackgroundService.cs:15  [protected override async Task ExecuteAsync]</a:t>
            </a:r>
          </a:p>
          <a:p xmlns:a="http://schemas.openxmlformats.org/drawingml/2006/main">
            <a:r>
              <a:t>S07: Edge/SREdgeCompute_TCP/SREdgeCompute_TCP/Infrastructure/Commands/CommandRegistry.cs:35  [public int ScanAndRegister]</a:t>
            </a:r>
          </a:p>
          <a:p xmlns:a="http://schemas.openxmlformats.org/drawingml/2006/main">
            <a:r>
              <a:t>S08: Edge/SREdgeCompute_TCP/SREdgeCompute_TCP/Service/CommandService.cs:104  [public async Task DistributeCommand]</a:t>
            </a:r>
          </a:p>
          <a:p xmlns:a="http://schemas.openxmlformats.org/drawingml/2006/main">
            <a:r>
              <a:t>S15: Edge/SREdgeCompute_TCP/SREdgeCompute_TCP/Service/CommandService.cs:186  [public async Task SetMMWData]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页：一条命令包含 ID、Cmd 和 Value</a:t>
            </a:r>
          </a:p>
          <a:p xmlns:a="http://schemas.openxmlformats.org/drawingml/2006/main">
            <a:r>
              <a:t>建议时间：80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这个例子表达的是一次走行目标命令。ID 为四十二，用来关联本次业务请求与后面的返回结果，它不是 MQTT 的报文编号。Cmd 是命令名称，决定调用哪个处理方法。这里的 WalkTargetAciton 保留了源码实际拼写，不应在演示中自行改成另一个名字。Value 是命令参数，示例中用字符串表示十二点三；其他命令的 Value 可能有别的结构。因此不能只凭字段名就认为任何参数都通用，具体解释和单位要看对应处理方法。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命令名称让同一 CMD 主题承载多种操作；业务 ID 则帮助区分同一种操作的多次请求。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 是应用层数据约定，不是 PLC 二进制帧。参数解析与协议转换仍由命令处理方法完成。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问：把 Value 改成任意数字也会正确执行吗？</a:t>
            </a:r>
          </a:p>
          <a:p xmlns:a="http://schemas.openxmlformats.org/drawingml/2006/main">
            <a:r>
              <a:t>答：不能这样假定。字段存在不等于数值合法；范围、单位和模式条件都需要按具体命令检查，教学示例不能直接用于现场控制。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下行说明“要做什么”，上行则回答“现在是什么状态”。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S08: Edge/SREdgeCompute_TCP/SREdgeCompute_TCP/Service/CommandService.cs:104  [public async Task DistributeCommand]</a:t>
            </a:r>
          </a:p>
          <a:p xmlns:a="http://schemas.openxmlformats.org/drawingml/2006/main">
            <a:r>
              <a:t>S09: Edge/SREdgeCompute_TCP/SREdgeCompute_TCP/Service/CommandService.cs:2895  [public async Task WalkTargetAciton]</a:t>
            </a:r>
          </a:p>
          <a:p xmlns:a="http://schemas.openxmlformats.org/drawingml/2006/main">
            <a:r>
              <a:t>S35: Edge/SREdgeCompute_TCP/SREdgeCompute_TCP/Model/Command/ReturnCommandModel.cs:19  [public enum CommandState]</a:t>
            </a:r>
          </a:p>
          <a:p xmlns:a="http://schemas.openxmlformats.org/drawingml/2006/main">
            <a:r>
              <a:t>W01: OASIS MQTT 3.1.1 标准 §3.1–3.3、§3.8、§4.3、§4.7：https://docs.oasis-open.org/mqtt/mqtt/v3.1.1/os/mqtt-v3.1.1-os.html （访问 2026-08-28）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页：PLC 状态整理后发布到 STATE</a:t>
            </a:r>
          </a:p>
          <a:p xmlns:a="http://schemas.openxmlformats.org/drawingml/2006/main">
            <a:r>
              <a:t>建议时间：90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状态上行的起点是 PLC 数据到达。TCP 接收状态后进入 PlcToEdgeService 的 CatchData，先解析底层数据，再通过 UpdateAllData 更新业务对象。之后把 AllData 序列化为 JSON，调用 PublishMessage，主题是当前配置中的 STATE。后端订阅这个主题来获取状态。这里还有两个容易说错的点：STATE 是由 PLC 状态到达事件触发的，不是由配置中的 LoadTime 每五百毫秒触发；PublishMessage 内部调用 EnqueueAsync，表示交给托管客户端的发送队列，不等于后端已经收到了。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AllData 给上层提供业务对象，减少后端直接理解 PLC 字段布局的需要。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状态上报依赖 PLC 状态持续到达；MQTT 保持连接，并不能独立保证这条数据链仍在更新。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问：为什么 MQTT 连着，页面状态却不更新？</a:t>
            </a:r>
          </a:p>
          <a:p xmlns:a="http://schemas.openxmlformats.org/drawingml/2006/main">
            <a:r>
              <a:t>答：可能是 PLC 状态没有到达，也可能卡在映射、发布或后端消费；应沿各个环节观察，不能只检查 MQTT 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除了状态，边缘还会发送回执和心跳，它们的用途不同。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S04: Edge/SREdgeCompute_TCP/SREdgeCompute_TCP/Client/TCPClient.cs:95  [private async Task ReceiveStream]</a:t>
            </a:r>
          </a:p>
          <a:p xmlns:a="http://schemas.openxmlformats.org/drawingml/2006/main">
            <a:r>
              <a:t>S11: Edge/SREdgeCompute_TCP/SREdgeCompute_TCP/Service/PlcToEdgeService.cs:34  [private void CatchData]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页：RETURN 与心跳回答不同问题</a:t>
            </a:r>
          </a:p>
          <a:p xmlns:a="http://schemas.openxmlformats.org/drawingml/2006/main">
            <a:r>
              <a:t>建议时间：85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RETURN 是面向某条命令的业务消息，里面包含关联 ID、命令名称和处理状态等信息。它适合回答“刚才那条命令处理到哪一步了”。心跳则不是针对某个命令。边缘程序收到 PLC 状态后，把其中的 VerifyID 作为数字文本发送到心跳主题，用来观察状态链路是否仍在到达。它也不同于 MQTT 协议自身的 Keep Alive：协议保活观察客户端与 Broker 的连接，而这个项目的业务心跳来自 PLC 状态。两者正常都不能替代现场联锁和动作结果判断。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持续状态与单次结果的消费方式不同。用业务 ID 可以关联回执，而心跳主要反映数据到达情况。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业务心跳在 CatchData 路径中触发，不是边缘另起一个独立定时器，无条件每秒发布。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问：心跳正常，就代表 PLC 动作正常吗？</a:t>
            </a:r>
          </a:p>
          <a:p xmlns:a="http://schemas.openxmlformats.org/drawingml/2006/main">
            <a:r>
              <a:t>答：不代表。它只能提供状态链路到达的证据；设备可运行、联锁满足和动作完成必须结合相应状态与现场控制逻辑。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再用一页补充边缘侧的三个简单功能。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S11: Edge/SREdgeCompute_TCP/SREdgeCompute_TCP/Service/PlcToEdgeService.cs:34  [private void CatchData]</a:t>
            </a:r>
          </a:p>
          <a:p xmlns:a="http://schemas.openxmlformats.org/drawingml/2006/main">
            <a:r>
              <a:t>S12: Edge/SREdgeCompute_TCP/SREdgeCompute_TCP/Service/PlcToEdgeService.cs:632  [private void UpdateHostCommandStatus]</a:t>
            </a:r>
          </a:p>
          <a:p xmlns:a="http://schemas.openxmlformats.org/drawingml/2006/main">
            <a:r>
              <a:t>S35: Edge/SREdgeCompute_TCP/SREdgeCompute_TCP/Model/Command/ReturnCommandModel.cs:19  [public enum CommandState]</a:t>
            </a:r>
          </a:p>
          <a:p xmlns:a="http://schemas.openxmlformats.org/drawingml/2006/main">
            <a:r>
              <a:t>W01: OASIS MQTT 3.1.1 标准 §3.1–3.3、§3.8、§4.3、§4.7：https://docs.oasis-open.org/mqtt/mqtt/v3.1.1/os/mqtt-v3.1.1-os.html （访问 2026-08-28）</a:t>
            </a:r>
          </a:p>
          <a:p xmlns:a="http://schemas.openxmlformats.org/drawingml/2006/main">
            <a:r>
              <a:t>W03: MQTTnet v4.3.6.1152 MqttClientOptions.cs：https://raw.githubusercontent.com/dotnet/MQTTnet/v4.3.6.1152/Source/MQTTnet/Client/Options/MqttClientOptions.cs （访问 2026-08-28）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页：三个基础功能支撑消息流转</a:t>
            </a:r>
          </a:p>
          <a:p xmlns:a="http://schemas.openxmlformats.org/drawingml/2006/main">
            <a:r>
              <a:t>建议时间：80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除了 MQTT 封装，边缘程序还需要几个基础功能。第一是周期控制：共享控制数据更新以后，EdgeToPlcService 持续组织并发送，代码每轮发送后延迟五百毫秒。第二是状态映射：把 PLC 的底层字段转换为 AllData 中的业务状态，供上层使用。第三是故障汇总：故障通道整理出的告警信息放进状态对象，随着后续 STATE 一起发出。这三项把通信和实际设备数据连接起来。这里介绍的是数据流，不意味着所有异常分支、告警恢复和现场时序都已经验收。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“发送后再延迟五百毫秒”包含发送耗时，不是严格每五百毫秒触发的硬实时任务。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故障和状态来自不同接收通道，但上层可以通过 STATE 里的聚合对象读取；告警是否及时清除还需单独验证。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问：这一页的五百毫秒就是 MQTT 状态发送周期吗？</a:t>
            </a:r>
          </a:p>
          <a:p xmlns:a="http://schemas.openxmlformats.org/drawingml/2006/main">
            <a:r>
              <a:t>答：不是。它属于边缘到 PLC 的周期控制循环；MQTT STATE 由 PLC 状态到达事件触发，两条路径要分开。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最后强调一次，通信成功和动作完成不能画等号。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S10: Edge/SREdgeCompute_TCP/SREdgeCompute_TCP/Service/EdgeToPlcService.cs:30  [public EdgeToPlcService]</a:t>
            </a:r>
          </a:p>
          <a:p xmlns:a="http://schemas.openxmlformats.org/drawingml/2006/main">
            <a:r>
              <a:t>S11: Edge/SREdgeCompute_TCP/SREdgeCompute_TCP/Service/PlcToEdgeService.cs:34  [private void CatchData]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页：收到消息不等于设备完成动作</a:t>
            </a:r>
          </a:p>
          <a:p xmlns:a="http://schemas.openxmlformats.org/drawingml/2006/main">
            <a:r>
              <a:t>建议时间：90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汇报时最需要讲准确的是这三个层次。第一层，边缘回调收到了消息，只能证明消息到达了应用入口。第二层，业务方法返回了处理结果，证明的是该方法定义的阶段。当前项目里，有些命令修改本地控制结构后就返回 Completed；普通主机构命令也有基于 PLC 命令状态的返回判断，因此 Completed 不能一律理解为机械已经到位。第三层才是设备动作结果，需要看相应位置、动作状态和联锁。MQTT 的投递等级同样不能跨过这些层次替我们证明设备完成。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软件处理可以很快完成，机械运动却需要时间；不同层的“完成”时间与判定依据自然不同。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回执语义来自具体方法，而不是枚举名字本身。遇到追问时要回到发布回执的位置和触发条件。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问：那 RETURN 还有用吗？</a:t>
            </a:r>
          </a:p>
          <a:p xmlns:a="http://schemas.openxmlformats.org/drawingml/2006/main">
            <a:r>
              <a:t>答：有。它用于关联业务请求、报告处理状态和错误；但解释它时必须说明确认到了哪个阶段，而不是把它当作所有动作的最终证明。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把这些层次用于排查，就能知道下一步该查哪里。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S12: Edge/SREdgeCompute_TCP/SREdgeCompute_TCP/Service/PlcToEdgeService.cs:632  [private void UpdateHostCommandStatus]</a:t>
            </a:r>
          </a:p>
          <a:p xmlns:a="http://schemas.openxmlformats.org/drawingml/2006/main">
            <a:r>
              <a:t>S35: Edge/SREdgeCompute_TCP/SREdgeCompute_TCP/Model/Command/ReturnCommandModel.cs:19  [public enum CommandState]</a:t>
            </a:r>
          </a:p>
          <a:p xmlns:a="http://schemas.openxmlformats.org/drawingml/2006/main">
            <a:r>
              <a:t>S36: Edge/SREdgeCompute_TCP/SREdgeCompute_TCP/Service/CommandService.cs:273  [public async Task SwitchMode]</a:t>
            </a:r>
          </a:p>
          <a:p xmlns:a="http://schemas.openxmlformats.org/drawingml/2006/main">
            <a:r>
              <a:t>S37: Edge/SREdgeCompute_TCP/SREdgeCompute_TCP/Service/CommandService.cs:357  [public async Task SetStop]</a:t>
            </a:r>
          </a:p>
          <a:p xmlns:a="http://schemas.openxmlformats.org/drawingml/2006/main">
            <a:r>
              <a:t>W01: OASIS MQTT 3.1.1 标准 §3.1–3.3、§3.8、§4.3、§4.7：https://docs.oasis-open.org/mqtt/mqtt/v3.1.1/os/mqtt-v3.1.1-os.html （访问 2026-08-28）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页：排查按连接、主题、处理、回传顺序</a:t>
            </a:r>
          </a:p>
          <a:p xmlns:a="http://schemas.openxmlformats.org/drawingml/2006/main">
            <a:r>
              <a:t>建议时间：80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遇到没有响应的问题，可以按四步检查。先查连接地址、端口和客户端身份，区分进程在运行与真正连上 Broker。再查主题，包括开头的斜杠、大小写和设备后缀。第三步看业务处理是否继续往下走：有没有收到消息，JSON 是否解析，队列是否消费，处理方法是否找到。最后再看 PLC 状态和 MQTT 回传。如果日志没有覆盖某个环节，就说明证据还不够，不能用前一环节正常来代替。观察日志和配置可以先做，发送控制报文必须在授权的隔离环境中进行。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按链路顺序检查可以逐步缩小范围，而不是一看到界面不更新就修改 MQTT 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当前源码并非每个环节都有完整日志，例如 MQTT 收包详细日志被注释；缺日志不等于没有发生，要补充受控观察。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问：看到“已订阅”日志就能百分之百确定消息会到吗？</a:t>
            </a:r>
          </a:p>
          <a:p xmlns:a="http://schemas.openxmlformats.org/drawingml/2006/main">
            <a:r>
              <a:t>答：不能。它是代码执行到该位置的线索；还需要结合实际订阅结果、对端发布、主题权限与接收情况判断。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用最后一页把今天的内容收束为三个结论。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S02: Edge/SREdgeCompute_TCP/SREdgeCompute_TCP/App.config:1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S05: Edge/SREdgeCompute_TCP/SREdgeCompute_TCP/Service/CommandQueueService.cs:30  [private void EnqueueCommand]</a:t>
            </a:r>
          </a:p>
          <a:p xmlns:a="http://schemas.openxmlformats.org/drawingml/2006/main">
            <a:r>
              <a:t>S06: Edge/SREdgeCompute_TCP/SREdgeCompute_TCP/Service/CommandQueueBackgroundService.cs:15  [protected override async Task ExecuteAsync]</a:t>
            </a:r>
          </a:p>
          <a:p xmlns:a="http://schemas.openxmlformats.org/drawingml/2006/main">
            <a:r>
              <a:t>S11: Edge/SREdgeCompute_TCP/SREdgeCompute_TCP/Service/PlcToEdgeService.cs:34  [private void CatchData]</a:t>
            </a:r>
          </a:p>
          <a:p xmlns:a="http://schemas.openxmlformats.org/drawingml/2006/main">
            <a:r>
              <a:t>W01: OASIS MQTT 3.1.1 标准 §3.1–3.3、§3.8、§4.3、§4.7：https://docs.oasis-open.org/mqtt/mqtt/v3.1.1/os/mqtt-v3.1.1-os.html （访问 2026-08-28）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页：记住两条方向、五个主题、三层结果</a:t>
            </a:r>
          </a:p>
          <a:p xmlns:a="http://schemas.openxmlformats.org/drawingml/2006/main">
            <a:r>
              <a:t>建议时间：55 秒（含停顿与指图）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【照着讲】</a:t>
            </a:r>
          </a:p>
          <a:p xmlns:a="http://schemas.openxmlformats.org/drawingml/2006/main">
            <a:r>
              <a:t>今天可以归纳为三个结论。第一，边缘侧连接业务后端与 PLC，MQTT 是后端和边缘之间的通信方式，边缘和 PLC 之间还有自定义 TCP。第二，项目用五个主题区分命令、状态、回执、心跳和毫米波输入，普通命令经过队列处理，PLC 状态经过映射再发布。第三，判断成功时要分清消息接收、业务处理和设备动作。掌握这条主线后，就能从配置和 MqttClient 入手，沿队列、命令方法及 PlcToEdgeService 继续读源码。以上是本次汇报，谢谢。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【为什么】</a:t>
            </a:r>
          </a:p>
          <a:p xmlns:a="http://schemas.openxmlformats.org/drawingml/2006/main">
            <a:r>
              <a:t>把概念与源码入口对应起来，后续遇到问题时才能找到证据，而不只是复述术语。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本次材料保留简单功能和关键边界；复杂策略与深入实现风险仍可回到原版学习资料继续阅读。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>问：如果下一步继续学，先学什么？</a:t>
            </a:r>
          </a:p>
          <a:p xmlns:a="http://schemas.openxmlformats.org/drawingml/2006/main">
            <a:r>
              <a:t>答：先选一条简单命令追到回执，再沿 CatchData 追一次状态发布；熟悉后再学习 PLC 报文和复杂策略。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>结束；可根据听众问题回到对应页。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S02: Edge/SREdgeCompute_TCP/SREdgeCompute_TCP/App.config:1</a:t>
            </a:r>
          </a:p>
          <a:p xmlns:a="http://schemas.openxmlformats.org/drawingml/2006/main">
            <a:r>
              <a:t>S03: Edge/SREdgeCompute_TCP/SREdgeCompute_TCP/Client/MqttClient.cs:29  [public async Task PublishMessage]</a:t>
            </a:r>
          </a:p>
          <a:p xmlns:a="http://schemas.openxmlformats.org/drawingml/2006/main">
            <a:r>
              <a:t>S05: Edge/SREdgeCompute_TCP/SREdgeCompute_TCP/Service/CommandQueueService.cs:30  [private void EnqueueCommand]</a:t>
            </a:r>
          </a:p>
          <a:p xmlns:a="http://schemas.openxmlformats.org/drawingml/2006/main">
            <a:r>
              <a:t>S08: Edge/SREdgeCompute_TCP/SREdgeCompute_TCP/Service/CommandService.cs:104  [public async Task DistributeCommand]</a:t>
            </a:r>
          </a:p>
          <a:p xmlns:a="http://schemas.openxmlformats.org/drawingml/2006/main">
            <a:r>
              <a:t>S10: Edge/SREdgeCompute_TCP/SREdgeCompute_TCP/Service/EdgeToPlcService.cs:30  [public EdgeToPlcService]</a:t>
            </a:r>
          </a:p>
          <a:p xmlns:a="http://schemas.openxmlformats.org/drawingml/2006/main">
            <a:r>
              <a:t>S11: Edge/SREdgeCompute_TCP/SREdgeCompute_TCP/Service/PlcToEdgeService.cs:34  [private void CatchData]</a:t>
            </a:r>
          </a:p>
          <a:p xmlns:a="http://schemas.openxmlformats.org/drawingml/2006/main">
            <a:r>
              <a:t>S12: Edge/SREdgeCompute_TCP/SREdgeCompute_TCP/Service/PlcToEdgeService.cs:632  [private void UpdateHostCommandStatus]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依据：工作区源码静态追踪及原版学习证据；本次未连接现场 PLC / Broker，不代表全应用构建、部署或设备控制验收。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8ed8a575a4a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01a0ea2ed24eb2" /><Relationship Type="http://schemas.openxmlformats.org/officeDocument/2006/relationships/slideLayout" Target="/ppt/slideLayouts/slideLayout1.xml" Id="R0f6848ddb3a943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6848ddb3a943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5d09280c2462d" /><Relationship Type="http://schemas.openxmlformats.org/officeDocument/2006/relationships/notesSlide" Target="/ppt/notesSlides/notesSlide1.xml" Id="Rbed4dfbf0ba944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7c87c59fb4962" /><Relationship Type="http://schemas.openxmlformats.org/officeDocument/2006/relationships/notesSlide" Target="/ppt/notesSlides/notesSlide2.xml" Id="R7887bf7da30c40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99fd37f234f3f" /><Relationship Type="http://schemas.openxmlformats.org/officeDocument/2006/relationships/notesSlide" Target="/ppt/notesSlides/notesSlide3.xml" Id="R90df6fdf6e274f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4969e437244a5" /><Relationship Type="http://schemas.openxmlformats.org/officeDocument/2006/relationships/notesSlide" Target="/ppt/notesSlides/notesSlide4.xml" Id="Rbc29427907124e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bc61c46d2490d" /><Relationship Type="http://schemas.openxmlformats.org/officeDocument/2006/relationships/notesSlide" Target="/ppt/notesSlides/notesSlide5.xml" Id="Rf437640592be48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7f4686e0145a7" /><Relationship Type="http://schemas.openxmlformats.org/officeDocument/2006/relationships/notesSlide" Target="/ppt/notesSlides/notesSlide6.xml" Id="R195df2d53c4c4e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bd89d59164f13" /><Relationship Type="http://schemas.openxmlformats.org/officeDocument/2006/relationships/notesSlide" Target="/ppt/notesSlides/notesSlide7.xml" Id="R56d2f4dc231c42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56dfde3ef4e79" /><Relationship Type="http://schemas.openxmlformats.org/officeDocument/2006/relationships/notesSlide" Target="/ppt/notesSlides/notesSlide8.xml" Id="R91fe55c03fa849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26b4c49394175" /><Relationship Type="http://schemas.openxmlformats.org/officeDocument/2006/relationships/notesSlide" Target="/ppt/notesSlides/notesSlide9.xml" Id="R98ac7212240f4b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9f9868a4e4e07" /><Relationship Type="http://schemas.openxmlformats.org/officeDocument/2006/relationships/notesSlide" Target="/ppt/notesSlides/notesSlide10.xml" Id="R069b56ab293642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bcfdabb564863" /><Relationship Type="http://schemas.openxmlformats.org/officeDocument/2006/relationships/notesSlide" Target="/ppt/notesSlides/notesSlide11.xml" Id="R9c1a3e1ef4fa46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28b78abda4d02" /><Relationship Type="http://schemas.openxmlformats.org/officeDocument/2006/relationships/notesSlide" Target="/ppt/notesSlides/notesSlide12.xml" Id="Rdd291f3a2afc43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22d6df23446ad" /><Relationship Type="http://schemas.openxmlformats.org/officeDocument/2006/relationships/notesSlide" Target="/ppt/notesSlides/notesSlide13.xml" Id="Rff394b35fa3a47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ba6c5cc4e43fb" /><Relationship Type="http://schemas.openxmlformats.org/officeDocument/2006/relationships/notesSlide" Target="/ppt/notesSlides/notesSlide14.xml" Id="R71970469350a40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c9a58ab4b484d" /><Relationship Type="http://schemas.openxmlformats.org/officeDocument/2006/relationships/notesSlide" Target="/ppt/notesSlides/notesSlide15.xml" Id="R1e0853c3504649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94lsp1-0">
            <a:extLst xmlns:a="http://schemas.openxmlformats.org/drawingml/2006/main">
              <a:ext uri="{FF2B5EF4-FFF2-40B4-BE49-F238E27FC236}">
                <a16:creationId xmlns:a16="http://schemas.microsoft.com/office/drawing/2014/main" id="{DBD9B4E5-A47A-47D5-B92C-4A285A5A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斗轮机无人值守系统  /  通信基础汇报</a:t>
            </a:r>
          </a:p>
        </p:txBody>
      </p:sp>
      <p:sp>
        <p:nvSpPr>
          <p:cNvPr id="2" name="text-94lsp1-1">
            <a:extLst xmlns:a="http://schemas.openxmlformats.org/drawingml/2006/main">
              <a:ext uri="{FF2B5EF4-FFF2-40B4-BE49-F238E27FC236}">
                <a16:creationId xmlns:a16="http://schemas.microsoft.com/office/drawing/2014/main" id="{9E3540FF-9598-4C6D-8AC6-34FEB9BC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12776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边缘侧 MQTT 通信入门</a:t>
            </a:r>
          </a:p>
          <a:p xmlns:a="http://schemas.openxmlformats.org/drawingml/2006/main">
            <a:pPr algn="l">
              <a:buNone/>
              <a:defRPr sz="55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SREdgeCompute_TCP</a:t>
            </a:r>
          </a:p>
        </p:txBody>
      </p:sp>
      <p:sp>
        <p:nvSpPr>
          <p:cNvPr id="3" name="text-94lsp1-2">
            <a:extLst xmlns:a="http://schemas.openxmlformats.org/drawingml/2006/main">
              <a:ext uri="{FF2B5EF4-FFF2-40B4-BE49-F238E27FC236}">
                <a16:creationId xmlns:a16="http://schemas.microsoft.com/office/drawing/2014/main" id="{48FFD3CC-9D03-4C4D-955C-D9304F55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43425"/>
            <a:ext cx="11277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主题与消息 · 命令下行 · 状态上行</a:t>
            </a:r>
          </a:p>
        </p:txBody>
      </p:sp>
      <p:sp>
        <p:nvSpPr>
          <p:cNvPr id="4" name="text-94lsp1-3">
            <a:extLst xmlns:a="http://schemas.openxmlformats.org/drawingml/2006/main">
              <a:ext uri="{FF2B5EF4-FFF2-40B4-BE49-F238E27FC236}">
                <a16:creationId xmlns:a16="http://schemas.microsoft.com/office/drawing/2014/main" id="{A0C07988-5F7D-4595-8FB9-67DC9703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2026.08.29  ·  基于当前工作区源码</a:t>
            </a:r>
          </a:p>
        </p:txBody>
      </p:sp>
    </p:spTree>
    <p:extLst>
      <p:ext uri="{BB962C8B-B14F-4D97-AF65-F5344CB8AC3E}">
        <p14:creationId xmlns:p14="http://schemas.microsoft.com/office/powerpoint/2010/main" val="1450348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3xy92-0">
            <a:extLst xmlns:a="http://schemas.openxmlformats.org/drawingml/2006/main">
              <a:ext uri="{FF2B5EF4-FFF2-40B4-BE49-F238E27FC236}">
                <a16:creationId xmlns:a16="http://schemas.microsoft.com/office/drawing/2014/main" id="{8E6A79D6-996E-491D-B249-1A9CD746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01 / 边缘侧基础</a:t>
            </a:r>
          </a:p>
        </p:txBody>
      </p:sp>
      <p:sp>
        <p:nvSpPr>
          <p:cNvPr id="2" name="text-23xy92-1">
            <a:extLst xmlns:a="http://schemas.openxmlformats.org/drawingml/2006/main">
              <a:ext uri="{FF2B5EF4-FFF2-40B4-BE49-F238E27FC236}">
                <a16:creationId xmlns:a16="http://schemas.microsoft.com/office/drawing/2014/main" id="{B407E39C-0811-4022-A033-31643C70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边缘侧连接业务后端与 PLC</a:t>
            </a:r>
          </a:p>
        </p:txBody>
      </p:sp>
      <p:sp>
        <p:nvSpPr>
          <p:cNvPr id="3" name="text-23xy92-2">
            <a:extLst xmlns:a="http://schemas.openxmlformats.org/drawingml/2006/main">
              <a:ext uri="{FF2B5EF4-FFF2-40B4-BE49-F238E27FC236}">
                <a16:creationId xmlns:a16="http://schemas.microsoft.com/office/drawing/2014/main" id="{720F65FD-180E-4204-A1EE-6500AAD0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后端与边缘侧使用 MQTT；边缘侧与 PLC 使用项目自定义 TCP。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3CB70-9485-44F8-B9B9-60BA40E6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23xy92-3">
            <a:extLst xmlns:a="http://schemas.openxmlformats.org/drawingml/2006/main">
              <a:ext uri="{FF2B5EF4-FFF2-40B4-BE49-F238E27FC236}">
                <a16:creationId xmlns:a16="http://schemas.microsoft.com/office/drawing/2014/main" id="{786A285D-122C-43EA-B9EB-7CB9DA5F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23xy92-4">
            <a:extLst xmlns:a="http://schemas.openxmlformats.org/drawingml/2006/main">
              <a:ext uri="{FF2B5EF4-FFF2-40B4-BE49-F238E27FC236}">
                <a16:creationId xmlns:a16="http://schemas.microsoft.com/office/drawing/2014/main" id="{E93AED47-5748-4F56-B088-93DE30F1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23xy92-5">
            <a:extLst xmlns:a="http://schemas.openxmlformats.org/drawingml/2006/main">
              <a:ext uri="{FF2B5EF4-FFF2-40B4-BE49-F238E27FC236}">
                <a16:creationId xmlns:a16="http://schemas.microsoft.com/office/drawing/2014/main" id="{E1D147F6-0738-4CC7-9B3A-534FC97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544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边缘侧的三个工作</a:t>
            </a:r>
          </a:p>
        </p:txBody>
      </p:sp>
      <p:sp>
        <p:nvSpPr>
          <p:cNvPr id="8" name="text-23xy92-6">
            <a:extLst xmlns:a="http://schemas.openxmlformats.org/drawingml/2006/main">
              <a:ext uri="{FF2B5EF4-FFF2-40B4-BE49-F238E27FC236}">
                <a16:creationId xmlns:a16="http://schemas.microsoft.com/office/drawing/2014/main" id="{14401DE5-8A94-4787-AEE0-13A301E9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接收命令，找到对应的处理方法。</a:t>
            </a:r>
          </a:p>
        </p:txBody>
      </p:sp>
      <p:sp>
        <p:nvSpPr>
          <p:cNvPr id="9" name="text-23xy92-7">
            <a:extLst xmlns:a="http://schemas.openxmlformats.org/drawingml/2006/main">
              <a:ext uri="{FF2B5EF4-FFF2-40B4-BE49-F238E27FC236}">
                <a16:creationId xmlns:a16="http://schemas.microsoft.com/office/drawing/2014/main" id="{A75CD944-18EB-4EB2-A95A-F1BFD23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把业务参数转换成 PLC 控制数据。</a:t>
            </a:r>
          </a:p>
        </p:txBody>
      </p:sp>
      <p:sp>
        <p:nvSpPr>
          <p:cNvPr id="10" name="text-23xy92-8">
            <a:extLst xmlns:a="http://schemas.openxmlformats.org/drawingml/2006/main">
              <a:ext uri="{FF2B5EF4-FFF2-40B4-BE49-F238E27FC236}">
                <a16:creationId xmlns:a16="http://schemas.microsoft.com/office/drawing/2014/main" id="{8A859DA4-4043-488A-9351-6A6C0913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整理 PLC 状态，发布状态和回执。</a:t>
            </a:r>
          </a:p>
        </p:txBody>
      </p:sp>
      <p:sp>
        <p:nvSpPr>
          <p:cNvPr id="11" name="text-23xy92-9">
            <a:extLst xmlns:a="http://schemas.openxmlformats.org/drawingml/2006/main">
              <a:ext uri="{FF2B5EF4-FFF2-40B4-BE49-F238E27FC236}">
                <a16:creationId xmlns:a16="http://schemas.microsoft.com/office/drawing/2014/main" id="{7D0FA834-F077-49CD-B34B-A222C32C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44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各方如何配合</a:t>
            </a:r>
          </a:p>
        </p:txBody>
      </p:sp>
      <p:sp>
        <p:nvSpPr>
          <p:cNvPr id="12" name="text-23xy92-10">
            <a:extLst xmlns:a="http://schemas.openxmlformats.org/drawingml/2006/main">
              <a:ext uri="{FF2B5EF4-FFF2-40B4-BE49-F238E27FC236}">
                <a16:creationId xmlns:a16="http://schemas.microsoft.com/office/drawing/2014/main" id="{9C01B854-CEB6-4AB9-83D8-CCB4DB94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业务后端：组织并发出操作请求。</a:t>
            </a:r>
          </a:p>
        </p:txBody>
      </p:sp>
      <p:sp>
        <p:nvSpPr>
          <p:cNvPr id="13" name="text-23xy92-11">
            <a:extLst xmlns:a="http://schemas.openxmlformats.org/drawingml/2006/main">
              <a:ext uri="{FF2B5EF4-FFF2-40B4-BE49-F238E27FC236}">
                <a16:creationId xmlns:a16="http://schemas.microsoft.com/office/drawing/2014/main" id="{7DD01BEE-D7EB-4C42-87DD-763A47E9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MQTT Broker：按主题转发消息。</a:t>
            </a:r>
          </a:p>
        </p:txBody>
      </p:sp>
      <p:sp>
        <p:nvSpPr>
          <p:cNvPr id="14" name="text-23xy92-12">
            <a:extLst xmlns:a="http://schemas.openxmlformats.org/drawingml/2006/main">
              <a:ext uri="{FF2B5EF4-FFF2-40B4-BE49-F238E27FC236}">
                <a16:creationId xmlns:a16="http://schemas.microsoft.com/office/drawing/2014/main" id="{681DA205-7533-47F5-92E6-23482D00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PLC：执行现场控制逻辑。</a:t>
            </a:r>
          </a:p>
        </p:txBody>
      </p:sp>
    </p:spTree>
    <p:extLst>
      <p:ext uri="{BB962C8B-B14F-4D97-AF65-F5344CB8AC3E}">
        <p14:creationId xmlns:p14="http://schemas.microsoft.com/office/powerpoint/2010/main" val="1402554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6o7j5r-0">
            <a:extLst xmlns:a="http://schemas.openxmlformats.org/drawingml/2006/main">
              <a:ext uri="{FF2B5EF4-FFF2-40B4-BE49-F238E27FC236}">
                <a16:creationId xmlns:a16="http://schemas.microsoft.com/office/drawing/2014/main" id="{36181090-47B6-4208-B29A-65DDAFE7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01 / 边缘侧基础</a:t>
            </a:r>
          </a:p>
        </p:txBody>
      </p:sp>
      <p:sp>
        <p:nvSpPr>
          <p:cNvPr id="2" name="text-6o7j5r-1">
            <a:extLst xmlns:a="http://schemas.openxmlformats.org/drawingml/2006/main">
              <a:ext uri="{FF2B5EF4-FFF2-40B4-BE49-F238E27FC236}">
                <a16:creationId xmlns:a16="http://schemas.microsoft.com/office/drawing/2014/main" id="{4DC2909D-D19F-4D85-ADD9-B10BDA35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六个入口看懂通信主线</a:t>
            </a:r>
          </a:p>
        </p:txBody>
      </p:sp>
      <p:sp>
        <p:nvSpPr>
          <p:cNvPr id="3" name="text-6o7j5r-2">
            <a:extLst xmlns:a="http://schemas.openxmlformats.org/drawingml/2006/main">
              <a:ext uri="{FF2B5EF4-FFF2-40B4-BE49-F238E27FC236}">
                <a16:creationId xmlns:a16="http://schemas.microsoft.com/office/drawing/2014/main" id="{2FB2B688-A80D-4EB4-B1E0-8234F8EB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只沿消息经过的位置阅读，不展开全部目录与命令清单。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A76FC-06D6-47BE-8B9F-24202735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6o7j5r-3">
            <a:extLst xmlns:a="http://schemas.openxmlformats.org/drawingml/2006/main">
              <a:ext uri="{FF2B5EF4-FFF2-40B4-BE49-F238E27FC236}">
                <a16:creationId xmlns:a16="http://schemas.microsoft.com/office/drawing/2014/main" id="{1DE55778-E154-4F36-BFA9-1B6EC61B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6o7j5r-4">
            <a:extLst xmlns:a="http://schemas.openxmlformats.org/drawingml/2006/main">
              <a:ext uri="{FF2B5EF4-FFF2-40B4-BE49-F238E27FC236}">
                <a16:creationId xmlns:a16="http://schemas.microsoft.com/office/drawing/2014/main" id="{B569E351-3F9D-4C4E-B71B-8B558273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21DB4-37D2-485C-A1B6-296CA497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1277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8" name="text-6o7j5r-5">
            <a:extLst xmlns:a="http://schemas.openxmlformats.org/drawingml/2006/main">
              <a:ext uri="{FF2B5EF4-FFF2-40B4-BE49-F238E27FC236}">
                <a16:creationId xmlns:a16="http://schemas.microsoft.com/office/drawing/2014/main" id="{C3D01E11-8568-4E1E-98BD-452B20DD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4333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文件 / 类</a:t>
            </a:r>
          </a:p>
        </p:txBody>
      </p:sp>
      <p:sp>
        <p:nvSpPr>
          <p:cNvPr id="9" name="text-6o7j5r-6">
            <a:extLst xmlns:a="http://schemas.openxmlformats.org/drawingml/2006/main">
              <a:ext uri="{FF2B5EF4-FFF2-40B4-BE49-F238E27FC236}">
                <a16:creationId xmlns:a16="http://schemas.microsoft.com/office/drawing/2014/main" id="{32F36C87-E519-4B48-AF01-88DF16C3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43150"/>
            <a:ext cx="2524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主要输入</a:t>
            </a:r>
          </a:p>
        </p:txBody>
      </p:sp>
      <p:sp>
        <p:nvSpPr>
          <p:cNvPr id="10" name="text-6o7j5r-7">
            <a:extLst xmlns:a="http://schemas.openxmlformats.org/drawingml/2006/main">
              <a:ext uri="{FF2B5EF4-FFF2-40B4-BE49-F238E27FC236}">
                <a16:creationId xmlns:a16="http://schemas.microsoft.com/office/drawing/2014/main" id="{4FA53B49-C5A3-4CDA-9D42-394AD678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3848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主要职责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026F7-6974-4B3D-B34E-04D2B83F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12" name="text-6o7j5r-8">
            <a:extLst xmlns:a="http://schemas.openxmlformats.org/drawingml/2006/main">
              <a:ext uri="{FF2B5EF4-FFF2-40B4-BE49-F238E27FC236}">
                <a16:creationId xmlns:a16="http://schemas.microsoft.com/office/drawing/2014/main" id="{95CB34A6-CC72-4B27-8587-99B29256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7025"/>
            <a:ext cx="4333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App.config / ConfigService</a:t>
            </a:r>
          </a:p>
        </p:txBody>
      </p:sp>
      <p:sp>
        <p:nvSpPr>
          <p:cNvPr id="13" name="text-6o7j5r-9">
            <a:extLst xmlns:a="http://schemas.openxmlformats.org/drawingml/2006/main">
              <a:ext uri="{FF2B5EF4-FFF2-40B4-BE49-F238E27FC236}">
                <a16:creationId xmlns:a16="http://schemas.microsoft.com/office/drawing/2014/main" id="{28A352AA-BF67-4383-9E4D-32F1959D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867025"/>
            <a:ext cx="2524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配置项</a:t>
            </a:r>
          </a:p>
        </p:txBody>
      </p:sp>
      <p:sp>
        <p:nvSpPr>
          <p:cNvPr id="14" name="text-6o7j5r-10">
            <a:extLst xmlns:a="http://schemas.openxmlformats.org/drawingml/2006/main">
              <a:ext uri="{FF2B5EF4-FFF2-40B4-BE49-F238E27FC236}">
                <a16:creationId xmlns:a16="http://schemas.microsoft.com/office/drawing/2014/main" id="{F832A2A7-60D6-41AA-8ECD-11127942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67025"/>
            <a:ext cx="3848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提供地址、客户端 ID 与主题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CF70C-3F1B-4400-AC56-43272DE4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16" name="text-6o7j5r-11">
            <a:extLst xmlns:a="http://schemas.openxmlformats.org/drawingml/2006/main">
              <a:ext uri="{FF2B5EF4-FFF2-40B4-BE49-F238E27FC236}">
                <a16:creationId xmlns:a16="http://schemas.microsoft.com/office/drawing/2014/main" id="{D17BFA9D-16D4-475E-A311-250037ED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4333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Client/MqttClient.cs</a:t>
            </a:r>
          </a:p>
        </p:txBody>
      </p:sp>
      <p:sp>
        <p:nvSpPr>
          <p:cNvPr id="17" name="text-6o7j5r-12">
            <a:extLst xmlns:a="http://schemas.openxmlformats.org/drawingml/2006/main">
              <a:ext uri="{FF2B5EF4-FFF2-40B4-BE49-F238E27FC236}">
                <a16:creationId xmlns:a16="http://schemas.microsoft.com/office/drawing/2014/main" id="{13D4046A-7B04-4584-80FA-6F45445D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90900"/>
            <a:ext cx="2524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MQTT 消息</a:t>
            </a:r>
          </a:p>
        </p:txBody>
      </p:sp>
      <p:sp>
        <p:nvSpPr>
          <p:cNvPr id="18" name="text-6o7j5r-13">
            <a:extLst xmlns:a="http://schemas.openxmlformats.org/drawingml/2006/main">
              <a:ext uri="{FF2B5EF4-FFF2-40B4-BE49-F238E27FC236}">
                <a16:creationId xmlns:a16="http://schemas.microsoft.com/office/drawing/2014/main" id="{C6C2F082-7BE1-4CDB-AD2F-F04CFAE6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90900"/>
            <a:ext cx="3848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连接、订阅、接收与发布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5A073-E7F0-4277-A0BF-49069D77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20" name="text-6o7j5r-14">
            <a:extLst xmlns:a="http://schemas.openxmlformats.org/drawingml/2006/main">
              <a:ext uri="{FF2B5EF4-FFF2-40B4-BE49-F238E27FC236}">
                <a16:creationId xmlns:a16="http://schemas.microsoft.com/office/drawing/2014/main" id="{94024EE5-ED72-449A-98E9-5C3FB436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4333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CommandQueueService</a:t>
            </a:r>
          </a:p>
        </p:txBody>
      </p:sp>
      <p:sp>
        <p:nvSpPr>
          <p:cNvPr id="21" name="text-6o7j5r-15">
            <a:extLst xmlns:a="http://schemas.openxmlformats.org/drawingml/2006/main">
              <a:ext uri="{FF2B5EF4-FFF2-40B4-BE49-F238E27FC236}">
                <a16:creationId xmlns:a16="http://schemas.microsoft.com/office/drawing/2014/main" id="{A298FF46-F910-4D6A-A707-3B55D978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14775"/>
            <a:ext cx="2524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命令 JSON</a:t>
            </a:r>
          </a:p>
        </p:txBody>
      </p:sp>
      <p:sp>
        <p:nvSpPr>
          <p:cNvPr id="22" name="text-6o7j5r-16">
            <a:extLst xmlns:a="http://schemas.openxmlformats.org/drawingml/2006/main">
              <a:ext uri="{FF2B5EF4-FFF2-40B4-BE49-F238E27FC236}">
                <a16:creationId xmlns:a16="http://schemas.microsoft.com/office/drawing/2014/main" id="{B7545D93-8081-4D1C-AF8E-09D3D206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14775"/>
            <a:ext cx="3848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解析命令并加入队列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2488E-AEDD-4389-9F42-6BE16FA0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24" name="text-6o7j5r-17">
            <a:extLst xmlns:a="http://schemas.openxmlformats.org/drawingml/2006/main">
              <a:ext uri="{FF2B5EF4-FFF2-40B4-BE49-F238E27FC236}">
                <a16:creationId xmlns:a16="http://schemas.microsoft.com/office/drawing/2014/main" id="{045DF039-8036-4CD0-ABD5-B48ED580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4333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CommandService</a:t>
            </a:r>
          </a:p>
        </p:txBody>
      </p:sp>
      <p:sp>
        <p:nvSpPr>
          <p:cNvPr id="25" name="text-6o7j5r-18">
            <a:extLst xmlns:a="http://schemas.openxmlformats.org/drawingml/2006/main">
              <a:ext uri="{FF2B5EF4-FFF2-40B4-BE49-F238E27FC236}">
                <a16:creationId xmlns:a16="http://schemas.microsoft.com/office/drawing/2014/main" id="{496E0015-DD7B-43B8-B2C4-665659F8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38650"/>
            <a:ext cx="2524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CommandModel</a:t>
            </a:r>
          </a:p>
        </p:txBody>
      </p:sp>
      <p:sp>
        <p:nvSpPr>
          <p:cNvPr id="26" name="text-6o7j5r-19">
            <a:extLst xmlns:a="http://schemas.openxmlformats.org/drawingml/2006/main">
              <a:ext uri="{FF2B5EF4-FFF2-40B4-BE49-F238E27FC236}">
                <a16:creationId xmlns:a16="http://schemas.microsoft.com/office/drawing/2014/main" id="{2C1499CE-86D9-4F1E-9265-DCCA4576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38650"/>
            <a:ext cx="3848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找到并执行命令处理方法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B33FE-C95C-4D60-BEEE-26BC603C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28" name="text-6o7j5r-20">
            <a:extLst xmlns:a="http://schemas.openxmlformats.org/drawingml/2006/main">
              <a:ext uri="{FF2B5EF4-FFF2-40B4-BE49-F238E27FC236}">
                <a16:creationId xmlns:a16="http://schemas.microsoft.com/office/drawing/2014/main" id="{AA5C8095-7979-40D7-931E-6FC8B2AA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2525"/>
            <a:ext cx="4333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PlcToEdgeService</a:t>
            </a:r>
          </a:p>
        </p:txBody>
      </p:sp>
      <p:sp>
        <p:nvSpPr>
          <p:cNvPr id="29" name="text-6o7j5r-21">
            <a:extLst xmlns:a="http://schemas.openxmlformats.org/drawingml/2006/main">
              <a:ext uri="{FF2B5EF4-FFF2-40B4-BE49-F238E27FC236}">
                <a16:creationId xmlns:a16="http://schemas.microsoft.com/office/drawing/2014/main" id="{B08202F1-4842-47F7-910A-1751EE75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962525"/>
            <a:ext cx="2524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PLC 状态 / 故障</a:t>
            </a:r>
          </a:p>
        </p:txBody>
      </p:sp>
      <p:sp>
        <p:nvSpPr>
          <p:cNvPr id="30" name="text-6o7j5r-22">
            <a:extLst xmlns:a="http://schemas.openxmlformats.org/drawingml/2006/main">
              <a:ext uri="{FF2B5EF4-FFF2-40B4-BE49-F238E27FC236}">
                <a16:creationId xmlns:a16="http://schemas.microsoft.com/office/drawing/2014/main" id="{64DA6C1D-A6F6-4696-8BCF-B50A5F83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62525"/>
            <a:ext cx="3848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整理状态、心跳与回执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057F5F-36D0-4075-A497-6D33E9BE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32" name="text-6o7j5r-23">
            <a:extLst xmlns:a="http://schemas.openxmlformats.org/drawingml/2006/main">
              <a:ext uri="{FF2B5EF4-FFF2-40B4-BE49-F238E27FC236}">
                <a16:creationId xmlns:a16="http://schemas.microsoft.com/office/drawing/2014/main" id="{68D418A6-F71C-40F1-B667-03A413AE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4333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EdgeToPlcService</a:t>
            </a:r>
          </a:p>
        </p:txBody>
      </p:sp>
      <p:sp>
        <p:nvSpPr>
          <p:cNvPr id="33" name="text-6o7j5r-24">
            <a:extLst xmlns:a="http://schemas.openxmlformats.org/drawingml/2006/main">
              <a:ext uri="{FF2B5EF4-FFF2-40B4-BE49-F238E27FC236}">
                <a16:creationId xmlns:a16="http://schemas.microsoft.com/office/drawing/2014/main" id="{7B265E44-0A69-40BA-9A44-1C7A9D45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486400"/>
            <a:ext cx="2524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共享控制数据</a:t>
            </a:r>
          </a:p>
        </p:txBody>
      </p:sp>
      <p:sp>
        <p:nvSpPr>
          <p:cNvPr id="34" name="text-6o7j5r-25">
            <a:extLst xmlns:a="http://schemas.openxmlformats.org/drawingml/2006/main">
              <a:ext uri="{FF2B5EF4-FFF2-40B4-BE49-F238E27FC236}">
                <a16:creationId xmlns:a16="http://schemas.microsoft.com/office/drawing/2014/main" id="{9CCEBA4E-44DB-48E0-B25A-AD9174F9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86400"/>
            <a:ext cx="3848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周期发送 PLC 控制数据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02E8C-26BD-4A5B-A037-05ABE4AC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15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</p:spTree>
    <p:extLst>
      <p:ext uri="{BB962C8B-B14F-4D97-AF65-F5344CB8AC3E}">
        <p14:creationId xmlns:p14="http://schemas.microsoft.com/office/powerpoint/2010/main" val="806201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umdutl-0">
            <a:extLst xmlns:a="http://schemas.openxmlformats.org/drawingml/2006/main">
              <a:ext uri="{FF2B5EF4-FFF2-40B4-BE49-F238E27FC236}">
                <a16:creationId xmlns:a16="http://schemas.microsoft.com/office/drawing/2014/main" id="{EB8E0ACC-8DB6-4488-BB57-E5F03068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02 / MQTT 基础</a:t>
            </a:r>
          </a:p>
        </p:txBody>
      </p:sp>
      <p:sp>
        <p:nvSpPr>
          <p:cNvPr id="2" name="text-umdutl-1">
            <a:extLst xmlns:a="http://schemas.openxmlformats.org/drawingml/2006/main">
              <a:ext uri="{FF2B5EF4-FFF2-40B4-BE49-F238E27FC236}">
                <a16:creationId xmlns:a16="http://schemas.microsoft.com/office/drawing/2014/main" id="{C2B32801-943B-4085-8411-E12BFBC3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MQTT 按主题发布与订阅</a:t>
            </a:r>
          </a:p>
        </p:txBody>
      </p:sp>
      <p:sp>
        <p:nvSpPr>
          <p:cNvPr id="3" name="text-umdutl-2">
            <a:extLst xmlns:a="http://schemas.openxmlformats.org/drawingml/2006/main">
              <a:ext uri="{FF2B5EF4-FFF2-40B4-BE49-F238E27FC236}">
                <a16:creationId xmlns:a16="http://schemas.microsoft.com/office/drawing/2014/main" id="{07ECA9A8-6B60-4CD8-8988-EE9A62C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Topic 决定消息发给谁；Payload 承载应用数据。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32C92-3506-494C-99A8-631E8D1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umdutl-3">
            <a:extLst xmlns:a="http://schemas.openxmlformats.org/drawingml/2006/main">
              <a:ext uri="{FF2B5EF4-FFF2-40B4-BE49-F238E27FC236}">
                <a16:creationId xmlns:a16="http://schemas.microsoft.com/office/drawing/2014/main" id="{70978F95-A4F4-411C-B3CC-B9C4ABD3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umdutl-4">
            <a:extLst xmlns:a="http://schemas.openxmlformats.org/drawingml/2006/main">
              <a:ext uri="{FF2B5EF4-FFF2-40B4-BE49-F238E27FC236}">
                <a16:creationId xmlns:a16="http://schemas.microsoft.com/office/drawing/2014/main" id="{CD50D780-16C2-4933-8377-7CB7AA53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249C3-8C25-42EB-9CAB-30179200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820"/>
            </a:solidFill>
          </a:ln>
        </p:spPr>
      </p:sp>
      <p:sp>
        <p:nvSpPr>
          <p:cNvPr id="8" name="text-umdutl-5">
            <a:extLst xmlns:a="http://schemas.openxmlformats.org/drawingml/2006/main">
              <a:ext uri="{FF2B5EF4-FFF2-40B4-BE49-F238E27FC236}">
                <a16:creationId xmlns:a16="http://schemas.microsoft.com/office/drawing/2014/main" id="{E281A872-1E77-4D9D-80EF-3615075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连接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93FCD-ADB9-4901-AD52-44EDA06C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text-umdutl-6">
            <a:extLst xmlns:a="http://schemas.openxmlformats.org/drawingml/2006/main">
              <a:ext uri="{FF2B5EF4-FFF2-40B4-BE49-F238E27FC236}">
                <a16:creationId xmlns:a16="http://schemas.microsoft.com/office/drawing/2014/main" id="{77AF9A46-4B74-41ED-87D6-B2F1ABF7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客户端连接 Broker</a:t>
            </a:r>
          </a:p>
        </p:txBody>
      </p:sp>
      <p:sp>
        <p:nvSpPr>
          <p:cNvPr id="11" name="text-umdutl-7">
            <a:extLst xmlns:a="http://schemas.openxmlformats.org/drawingml/2006/main">
              <a:ext uri="{FF2B5EF4-FFF2-40B4-BE49-F238E27FC236}">
                <a16:creationId xmlns:a16="http://schemas.microsoft.com/office/drawing/2014/main" id="{22F78CDA-F250-445A-B522-43525056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先建立 MQTT 连接。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边缘程序与后端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各自作为客户端接入。</a:t>
            </a:r>
          </a:p>
        </p:txBody>
      </p:sp>
      <p:sp>
        <p:nvSpPr>
          <p:cNvPr id="12" name="text-umdutl-8">
            <a:extLst xmlns:a="http://schemas.openxmlformats.org/drawingml/2006/main">
              <a:ext uri="{FF2B5EF4-FFF2-40B4-BE49-F238E27FC236}">
                <a16:creationId xmlns:a16="http://schemas.microsoft.com/office/drawing/2014/main" id="{C5D1527B-9299-4948-B3A5-531DD27F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订阅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1E2D5-D2EB-4EDF-A5B2-2FAE9BA5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4" name="text-umdutl-9">
            <a:extLst xmlns:a="http://schemas.openxmlformats.org/drawingml/2006/main">
              <a:ext uri="{FF2B5EF4-FFF2-40B4-BE49-F238E27FC236}">
                <a16:creationId xmlns:a16="http://schemas.microsoft.com/office/drawing/2014/main" id="{396382CA-6F93-4B98-A6DD-DE130AF4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登记关心的主题</a:t>
            </a:r>
          </a:p>
        </p:txBody>
      </p:sp>
      <p:sp>
        <p:nvSpPr>
          <p:cNvPr id="15" name="text-umdutl-10">
            <a:extLst xmlns:a="http://schemas.openxmlformats.org/drawingml/2006/main">
              <a:ext uri="{FF2B5EF4-FFF2-40B4-BE49-F238E27FC236}">
                <a16:creationId xmlns:a16="http://schemas.microsoft.com/office/drawing/2014/main" id="{BCD45E7B-D856-4814-87EE-57D28951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边缘订阅命令主题。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Broker 记录订阅关系，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不需要双方直接连接。</a:t>
            </a:r>
          </a:p>
        </p:txBody>
      </p:sp>
      <p:sp>
        <p:nvSpPr>
          <p:cNvPr id="16" name="text-umdutl-11">
            <a:extLst xmlns:a="http://schemas.openxmlformats.org/drawingml/2006/main">
              <a:ext uri="{FF2B5EF4-FFF2-40B4-BE49-F238E27FC236}">
                <a16:creationId xmlns:a16="http://schemas.microsoft.com/office/drawing/2014/main" id="{3F7D8A78-6821-474E-9F68-CF321E47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5D986-D2A3-4E4C-BC78-4F02017B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8" name="text-umdutl-12">
            <a:extLst xmlns:a="http://schemas.openxmlformats.org/drawingml/2006/main">
              <a:ext uri="{FF2B5EF4-FFF2-40B4-BE49-F238E27FC236}">
                <a16:creationId xmlns:a16="http://schemas.microsoft.com/office/drawing/2014/main" id="{C8F13E12-E240-400D-B9F3-7CE17561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按主题转发消息</a:t>
            </a:r>
          </a:p>
        </p:txBody>
      </p:sp>
      <p:sp>
        <p:nvSpPr>
          <p:cNvPr id="19" name="text-umdutl-13">
            <a:extLst xmlns:a="http://schemas.openxmlformats.org/drawingml/2006/main">
              <a:ext uri="{FF2B5EF4-FFF2-40B4-BE49-F238E27FC236}">
                <a16:creationId xmlns:a16="http://schemas.microsoft.com/office/drawing/2014/main" id="{81DD9E9B-0907-489E-8B29-C78596FD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后端发布命令负载。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Broker 转发给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主题匹配的订阅者。</a:t>
            </a:r>
          </a:p>
        </p:txBody>
      </p:sp>
    </p:spTree>
    <p:extLst>
      <p:ext uri="{BB962C8B-B14F-4D97-AF65-F5344CB8AC3E}">
        <p14:creationId xmlns:p14="http://schemas.microsoft.com/office/powerpoint/2010/main" val="17285033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4swa0g-0">
            <a:extLst xmlns:a="http://schemas.openxmlformats.org/drawingml/2006/main">
              <a:ext uri="{FF2B5EF4-FFF2-40B4-BE49-F238E27FC236}">
                <a16:creationId xmlns:a16="http://schemas.microsoft.com/office/drawing/2014/main" id="{FFED9AA7-ADEB-4277-B709-A3DF5F4D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03 / 项目 MQTT</a:t>
            </a:r>
          </a:p>
        </p:txBody>
      </p:sp>
      <p:sp>
        <p:nvSpPr>
          <p:cNvPr id="2" name="text-4swa0g-1">
            <a:extLst xmlns:a="http://schemas.openxmlformats.org/drawingml/2006/main">
              <a:ext uri="{FF2B5EF4-FFF2-40B4-BE49-F238E27FC236}">
                <a16:creationId xmlns:a16="http://schemas.microsoft.com/office/drawing/2014/main" id="{6088F874-A65F-4893-8AFE-1DA774FB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五个 Topic 分清数据方向</a:t>
            </a:r>
          </a:p>
        </p:txBody>
      </p:sp>
      <p:sp>
        <p:nvSpPr>
          <p:cNvPr id="3" name="text-4swa0g-2">
            <a:extLst xmlns:a="http://schemas.openxmlformats.org/drawingml/2006/main">
              <a:ext uri="{FF2B5EF4-FFF2-40B4-BE49-F238E27FC236}">
                <a16:creationId xmlns:a16="http://schemas.microsoft.com/office/drawing/2014/main" id="{B6CF9AE9-814A-4D62-AD49-E4516A0B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以下均为当前 C3 配置；箭头只表示消息的发布与接收方向。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66633-AE03-4A9D-903F-8BE4932C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4swa0g-3">
            <a:extLst xmlns:a="http://schemas.openxmlformats.org/drawingml/2006/main">
              <a:ext uri="{FF2B5EF4-FFF2-40B4-BE49-F238E27FC236}">
                <a16:creationId xmlns:a16="http://schemas.microsoft.com/office/drawing/2014/main" id="{C840B7F1-C952-4D53-97A2-BA19EDBD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4swa0g-4">
            <a:extLst xmlns:a="http://schemas.openxmlformats.org/drawingml/2006/main">
              <a:ext uri="{FF2B5EF4-FFF2-40B4-BE49-F238E27FC236}">
                <a16:creationId xmlns:a16="http://schemas.microsoft.com/office/drawing/2014/main" id="{2DDCD2A8-8FA7-4B81-B376-E7B496BF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EFBFE-5478-4F06-B7F3-5A1FF932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1277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8" name="text-4swa0g-5">
            <a:extLst xmlns:a="http://schemas.openxmlformats.org/drawingml/2006/main">
              <a:ext uri="{FF2B5EF4-FFF2-40B4-BE49-F238E27FC236}">
                <a16:creationId xmlns:a16="http://schemas.microsoft.com/office/drawing/2014/main" id="{63D8BE69-D168-4155-9864-A95FACA7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完整 Topic</a:t>
            </a:r>
          </a:p>
        </p:txBody>
      </p:sp>
      <p:sp>
        <p:nvSpPr>
          <p:cNvPr id="9" name="text-4swa0g-6">
            <a:extLst xmlns:a="http://schemas.openxmlformats.org/drawingml/2006/main">
              <a:ext uri="{FF2B5EF4-FFF2-40B4-BE49-F238E27FC236}">
                <a16:creationId xmlns:a16="http://schemas.microsoft.com/office/drawing/2014/main" id="{A00E33B2-F3F5-4A53-BBAC-6A9F5345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3431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方向</a:t>
            </a:r>
          </a:p>
        </p:txBody>
      </p:sp>
      <p:sp>
        <p:nvSpPr>
          <p:cNvPr id="10" name="text-4swa0g-7">
            <a:extLst xmlns:a="http://schemas.openxmlformats.org/drawingml/2006/main">
              <a:ext uri="{FF2B5EF4-FFF2-40B4-BE49-F238E27FC236}">
                <a16:creationId xmlns:a16="http://schemas.microsoft.com/office/drawing/2014/main" id="{77E9A4F5-7A3B-4345-81DC-6228960D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内容 / 用途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E87C5-15AE-4FC5-8281-F4C2382B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12" name="text-4swa0g-8">
            <a:extLst xmlns:a="http://schemas.openxmlformats.org/drawingml/2006/main">
              <a:ext uri="{FF2B5EF4-FFF2-40B4-BE49-F238E27FC236}">
                <a16:creationId xmlns:a16="http://schemas.microsoft.com/office/drawing/2014/main" id="{72E1AECB-8D9F-44B6-88D7-7DCC64FD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/MACHINE/CMD/C3</a:t>
            </a:r>
          </a:p>
        </p:txBody>
      </p:sp>
      <p:sp>
        <p:nvSpPr>
          <p:cNvPr id="13" name="text-4swa0g-9">
            <a:extLst xmlns:a="http://schemas.openxmlformats.org/drawingml/2006/main">
              <a:ext uri="{FF2B5EF4-FFF2-40B4-BE49-F238E27FC236}">
                <a16:creationId xmlns:a16="http://schemas.microsoft.com/office/drawing/2014/main" id="{2D331E77-6B34-4DC3-A244-2E352E89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146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后端 → 边缘</a:t>
            </a:r>
          </a:p>
        </p:txBody>
      </p:sp>
      <p:sp>
        <p:nvSpPr>
          <p:cNvPr id="14" name="text-4swa0g-10">
            <a:extLst xmlns:a="http://schemas.openxmlformats.org/drawingml/2006/main">
              <a:ext uri="{FF2B5EF4-FFF2-40B4-BE49-F238E27FC236}">
                <a16:creationId xmlns:a16="http://schemas.microsoft.com/office/drawing/2014/main" id="{A1E884B1-8C9F-4F13-9A55-F9573ED2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14650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下发控制命令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E1C45-5044-4444-B9B4-22D2F0B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16" name="text-4swa0g-11">
            <a:extLst xmlns:a="http://schemas.openxmlformats.org/drawingml/2006/main">
              <a:ext uri="{FF2B5EF4-FFF2-40B4-BE49-F238E27FC236}">
                <a16:creationId xmlns:a16="http://schemas.microsoft.com/office/drawing/2014/main" id="{39073637-6707-469C-8AA1-61986B63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/MACHINE/STATE/C3</a:t>
            </a:r>
          </a:p>
        </p:txBody>
      </p:sp>
      <p:sp>
        <p:nvSpPr>
          <p:cNvPr id="17" name="text-4swa0g-12">
            <a:extLst xmlns:a="http://schemas.openxmlformats.org/drawingml/2006/main">
              <a:ext uri="{FF2B5EF4-FFF2-40B4-BE49-F238E27FC236}">
                <a16:creationId xmlns:a16="http://schemas.microsoft.com/office/drawing/2014/main" id="{5FCFAC3C-82B1-40F8-84EB-733D2CD1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4861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边缘 → 后端</a:t>
            </a:r>
          </a:p>
        </p:txBody>
      </p:sp>
      <p:sp>
        <p:nvSpPr>
          <p:cNvPr id="18" name="text-4swa0g-13">
            <a:extLst xmlns:a="http://schemas.openxmlformats.org/drawingml/2006/main">
              <a:ext uri="{FF2B5EF4-FFF2-40B4-BE49-F238E27FC236}">
                <a16:creationId xmlns:a16="http://schemas.microsoft.com/office/drawing/2014/main" id="{59FD4FBB-04E3-4092-B688-826D662A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上报设备状态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4EFDC-A586-43F1-9501-A9BBC640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20" name="text-4swa0g-14">
            <a:extLst xmlns:a="http://schemas.openxmlformats.org/drawingml/2006/main">
              <a:ext uri="{FF2B5EF4-FFF2-40B4-BE49-F238E27FC236}">
                <a16:creationId xmlns:a16="http://schemas.microsoft.com/office/drawing/2014/main" id="{E6018FE4-4958-4108-9D0E-0473807E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/MACHINE/RETURN/C3</a:t>
            </a:r>
          </a:p>
        </p:txBody>
      </p:sp>
      <p:sp>
        <p:nvSpPr>
          <p:cNvPr id="21" name="text-4swa0g-15">
            <a:extLst xmlns:a="http://schemas.openxmlformats.org/drawingml/2006/main">
              <a:ext uri="{FF2B5EF4-FFF2-40B4-BE49-F238E27FC236}">
                <a16:creationId xmlns:a16="http://schemas.microsoft.com/office/drawing/2014/main" id="{E190E387-50AF-43FB-AD00-5D70AA8C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0576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边缘 → 后端</a:t>
            </a:r>
          </a:p>
        </p:txBody>
      </p:sp>
      <p:sp>
        <p:nvSpPr>
          <p:cNvPr id="22" name="text-4swa0g-16">
            <a:extLst xmlns:a="http://schemas.openxmlformats.org/drawingml/2006/main">
              <a:ext uri="{FF2B5EF4-FFF2-40B4-BE49-F238E27FC236}">
                <a16:creationId xmlns:a16="http://schemas.microsoft.com/office/drawing/2014/main" id="{6D0FAD5E-1A31-420C-AE50-D629F9E4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返回命令处理结果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C7748-7C09-4F2A-BA6C-1DD0DFD3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24" name="text-4swa0g-17">
            <a:extLst xmlns:a="http://schemas.openxmlformats.org/drawingml/2006/main">
              <a:ext uri="{FF2B5EF4-FFF2-40B4-BE49-F238E27FC236}">
                <a16:creationId xmlns:a16="http://schemas.microsoft.com/office/drawing/2014/main" id="{1A3FA766-F047-42C5-A18B-076A4AE5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/HeartBeat/Edge/C3</a:t>
            </a:r>
          </a:p>
        </p:txBody>
      </p:sp>
      <p:sp>
        <p:nvSpPr>
          <p:cNvPr id="25" name="text-4swa0g-18">
            <a:extLst xmlns:a="http://schemas.openxmlformats.org/drawingml/2006/main">
              <a:ext uri="{FF2B5EF4-FFF2-40B4-BE49-F238E27FC236}">
                <a16:creationId xmlns:a16="http://schemas.microsoft.com/office/drawing/2014/main" id="{AE227E5E-FD3F-4BD0-9B31-C7E47FD8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6291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边缘 → 后端</a:t>
            </a:r>
          </a:p>
        </p:txBody>
      </p:sp>
      <p:sp>
        <p:nvSpPr>
          <p:cNvPr id="26" name="text-4swa0g-19">
            <a:extLst xmlns:a="http://schemas.openxmlformats.org/drawingml/2006/main">
              <a:ext uri="{FF2B5EF4-FFF2-40B4-BE49-F238E27FC236}">
                <a16:creationId xmlns:a16="http://schemas.microsoft.com/office/drawing/2014/main" id="{3E70DBD9-BF62-4480-9A07-4387FB10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29150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转发 PLC 状态中的心跳值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D1B8E1-28A3-4EE3-9D56-ABC2F30F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28" name="text-4swa0g-20">
            <a:extLst xmlns:a="http://schemas.openxmlformats.org/drawingml/2006/main">
              <a:ext uri="{FF2B5EF4-FFF2-40B4-BE49-F238E27FC236}">
                <a16:creationId xmlns:a16="http://schemas.microsoft.com/office/drawing/2014/main" id="{80FFB77B-A877-4CA9-A740-F18D7EC4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/Data/MMWave/C3</a:t>
            </a:r>
          </a:p>
        </p:txBody>
      </p:sp>
      <p:sp>
        <p:nvSpPr>
          <p:cNvPr id="29" name="text-4swa0g-21">
            <a:extLst xmlns:a="http://schemas.openxmlformats.org/drawingml/2006/main">
              <a:ext uri="{FF2B5EF4-FFF2-40B4-BE49-F238E27FC236}">
                <a16:creationId xmlns:a16="http://schemas.microsoft.com/office/drawing/2014/main" id="{1F9A6626-FD5D-4B5C-8531-C316458D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006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外部 → 边缘</a:t>
            </a:r>
          </a:p>
        </p:txBody>
      </p:sp>
      <p:sp>
        <p:nvSpPr>
          <p:cNvPr id="30" name="text-4swa0g-22">
            <a:extLst xmlns:a="http://schemas.openxmlformats.org/drawingml/2006/main">
              <a:ext uri="{FF2B5EF4-FFF2-40B4-BE49-F238E27FC236}">
                <a16:creationId xmlns:a16="http://schemas.microsoft.com/office/drawing/2014/main" id="{42122FA0-630A-4D47-AF33-B69CDDCC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00650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接收毫米波距离数据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67FAF0-8C63-4AE5-A4F1-7FA8EA0F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</p:spTree>
    <p:extLst>
      <p:ext uri="{BB962C8B-B14F-4D97-AF65-F5344CB8AC3E}">
        <p14:creationId xmlns:p14="http://schemas.microsoft.com/office/powerpoint/2010/main" val="1262021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umdutl-0">
            <a:extLst xmlns:a="http://schemas.openxmlformats.org/drawingml/2006/main">
              <a:ext uri="{FF2B5EF4-FFF2-40B4-BE49-F238E27FC236}">
                <a16:creationId xmlns:a16="http://schemas.microsoft.com/office/drawing/2014/main" id="{EB8E0ACC-8DB6-4488-BB57-E5F03068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03 / 项目 MQTT</a:t>
            </a:r>
          </a:p>
        </p:txBody>
      </p:sp>
      <p:sp>
        <p:nvSpPr>
          <p:cNvPr id="2" name="text-umdutl-1">
            <a:extLst xmlns:a="http://schemas.openxmlformats.org/drawingml/2006/main">
              <a:ext uri="{FF2B5EF4-FFF2-40B4-BE49-F238E27FC236}">
                <a16:creationId xmlns:a16="http://schemas.microsoft.com/office/drawing/2014/main" id="{C2B32801-943B-4085-8411-E12BFBC3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连接后订阅命令与毫米波主题</a:t>
            </a:r>
          </a:p>
        </p:txBody>
      </p:sp>
      <p:sp>
        <p:nvSpPr>
          <p:cNvPr id="3" name="text-umdutl-2">
            <a:extLst xmlns:a="http://schemas.openxmlformats.org/drawingml/2006/main">
              <a:ext uri="{FF2B5EF4-FFF2-40B4-BE49-F238E27FC236}">
                <a16:creationId xmlns:a16="http://schemas.microsoft.com/office/drawing/2014/main" id="{07ECA9A8-6B60-4CD8-8988-EE9A62C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MqttClient.Initialize 配置连接，并绑定接收和连接事件。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32C92-3506-494C-99A8-631E8D1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umdutl-3">
            <a:extLst xmlns:a="http://schemas.openxmlformats.org/drawingml/2006/main">
              <a:ext uri="{FF2B5EF4-FFF2-40B4-BE49-F238E27FC236}">
                <a16:creationId xmlns:a16="http://schemas.microsoft.com/office/drawing/2014/main" id="{70978F95-A4F4-411C-B3CC-B9C4ABD3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umdutl-4">
            <a:extLst xmlns:a="http://schemas.openxmlformats.org/drawingml/2006/main">
              <a:ext uri="{FF2B5EF4-FFF2-40B4-BE49-F238E27FC236}">
                <a16:creationId xmlns:a16="http://schemas.microsoft.com/office/drawing/2014/main" id="{CD50D780-16C2-4933-8377-7CB7AA53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249C3-8C25-42EB-9CAB-30179200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820"/>
            </a:solidFill>
          </a:ln>
        </p:spPr>
      </p:sp>
      <p:sp>
        <p:nvSpPr>
          <p:cNvPr id="8" name="text-umdutl-5">
            <a:extLst xmlns:a="http://schemas.openxmlformats.org/drawingml/2006/main">
              <a:ext uri="{FF2B5EF4-FFF2-40B4-BE49-F238E27FC236}">
                <a16:creationId xmlns:a16="http://schemas.microsoft.com/office/drawing/2014/main" id="{E281A872-1E77-4D9D-80EF-3615075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93FCD-ADB9-4901-AD52-44EDA06C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text-umdutl-6">
            <a:extLst xmlns:a="http://schemas.openxmlformats.org/drawingml/2006/main">
              <a:ext uri="{FF2B5EF4-FFF2-40B4-BE49-F238E27FC236}">
                <a16:creationId xmlns:a16="http://schemas.microsoft.com/office/drawing/2014/main" id="{77AF9A46-4B74-41ED-87D6-B2F1ABF7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创建托管客户端</a:t>
            </a:r>
          </a:p>
        </p:txBody>
      </p:sp>
      <p:sp>
        <p:nvSpPr>
          <p:cNvPr id="11" name="text-umdutl-7">
            <a:extLst xmlns:a="http://schemas.openxmlformats.org/drawingml/2006/main">
              <a:ext uri="{FF2B5EF4-FFF2-40B4-BE49-F238E27FC236}">
                <a16:creationId xmlns:a16="http://schemas.microsoft.com/office/drawing/2014/main" id="{22F78CDA-F250-445A-B522-43525056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读取 Broker 地址、端口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和 ClientId。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设置 5 秒重连延迟。</a:t>
            </a:r>
          </a:p>
        </p:txBody>
      </p:sp>
      <p:sp>
        <p:nvSpPr>
          <p:cNvPr id="12" name="text-umdutl-8">
            <a:extLst xmlns:a="http://schemas.openxmlformats.org/drawingml/2006/main">
              <a:ext uri="{FF2B5EF4-FFF2-40B4-BE49-F238E27FC236}">
                <a16:creationId xmlns:a16="http://schemas.microsoft.com/office/drawing/2014/main" id="{C5D1527B-9299-4948-B3A5-531DD27F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1E2D5-D2EB-4EDF-A5B2-2FAE9BA5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4" name="text-umdutl-9">
            <a:extLst xmlns:a="http://schemas.openxmlformats.org/drawingml/2006/main">
              <a:ext uri="{FF2B5EF4-FFF2-40B4-BE49-F238E27FC236}">
                <a16:creationId xmlns:a16="http://schemas.microsoft.com/office/drawing/2014/main" id="{396382CA-6F93-4B98-A6DD-DE130AF4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调用 StartAsync</a:t>
            </a:r>
          </a:p>
        </p:txBody>
      </p:sp>
      <p:sp>
        <p:nvSpPr>
          <p:cNvPr id="15" name="text-umdutl-10">
            <a:extLst xmlns:a="http://schemas.openxmlformats.org/drawingml/2006/main">
              <a:ext uri="{FF2B5EF4-FFF2-40B4-BE49-F238E27FC236}">
                <a16:creationId xmlns:a16="http://schemas.microsoft.com/office/drawing/2014/main" id="{BCD45E7B-D856-4814-87EE-57D28951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启动托管连接流程。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绑定连接状态日志，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以及消息接收回调。</a:t>
            </a:r>
          </a:p>
        </p:txBody>
      </p:sp>
      <p:sp>
        <p:nvSpPr>
          <p:cNvPr id="16" name="text-umdutl-11">
            <a:extLst xmlns:a="http://schemas.openxmlformats.org/drawingml/2006/main">
              <a:ext uri="{FF2B5EF4-FFF2-40B4-BE49-F238E27FC236}">
                <a16:creationId xmlns:a16="http://schemas.microsoft.com/office/drawing/2014/main" id="{3F7D8A78-6821-474E-9F68-CF321E47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订阅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5D986-D2A3-4E4C-BC78-4F02017B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8" name="text-umdutl-12">
            <a:extLst xmlns:a="http://schemas.openxmlformats.org/drawingml/2006/main">
              <a:ext uri="{FF2B5EF4-FFF2-40B4-BE49-F238E27FC236}">
                <a16:creationId xmlns:a16="http://schemas.microsoft.com/office/drawing/2014/main" id="{C8F13E12-E240-400D-B9F3-7CE17561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连接事件中订阅</a:t>
            </a:r>
          </a:p>
        </p:txBody>
      </p:sp>
      <p:sp>
        <p:nvSpPr>
          <p:cNvPr id="19" name="text-umdutl-13">
            <a:extLst xmlns:a="http://schemas.openxmlformats.org/drawingml/2006/main">
              <a:ext uri="{FF2B5EF4-FFF2-40B4-BE49-F238E27FC236}">
                <a16:creationId xmlns:a16="http://schemas.microsoft.com/office/drawing/2014/main" id="{81DD9E9B-0907-489E-8B29-C78596FD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ConnectedAsync 触发后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订阅 CMD 与毫米波。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收到消息再通知业务层。</a:t>
            </a:r>
          </a:p>
        </p:txBody>
      </p:sp>
    </p:spTree>
    <p:extLst>
      <p:ext uri="{BB962C8B-B14F-4D97-AF65-F5344CB8AC3E}">
        <p14:creationId xmlns:p14="http://schemas.microsoft.com/office/powerpoint/2010/main" val="1728503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wf313p-0">
            <a:extLst xmlns:a="http://schemas.openxmlformats.org/drawingml/2006/main">
              <a:ext uri="{FF2B5EF4-FFF2-40B4-BE49-F238E27FC236}">
                <a16:creationId xmlns:a16="http://schemas.microsoft.com/office/drawing/2014/main" id="{8E5A0B46-0DE9-4BCA-86A5-FA59F355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03 / 项目 MQTT</a:t>
            </a:r>
          </a:p>
        </p:txBody>
      </p:sp>
      <p:sp>
        <p:nvSpPr>
          <p:cNvPr id="2" name="text-wf313p-1">
            <a:extLst xmlns:a="http://schemas.openxmlformats.org/drawingml/2006/main">
              <a:ext uri="{FF2B5EF4-FFF2-40B4-BE49-F238E27FC236}">
                <a16:creationId xmlns:a16="http://schemas.microsoft.com/office/drawing/2014/main" id="{F9227DB5-367D-467B-8FEE-FDB43332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配置先看地址、身份与投递等级</a:t>
            </a:r>
          </a:p>
        </p:txBody>
      </p:sp>
      <p:sp>
        <p:nvSpPr>
          <p:cNvPr id="3" name="text-wf313p-2">
            <a:extLst xmlns:a="http://schemas.openxmlformats.org/drawingml/2006/main">
              <a:ext uri="{FF2B5EF4-FFF2-40B4-BE49-F238E27FC236}">
                <a16:creationId xmlns:a16="http://schemas.microsoft.com/office/drawing/2014/main" id="{C9F2D061-CBE4-4882-863D-8EB3B0A5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取值来自当前配置与 MQTTnet 4.3.6.1152；不代表现场部署已经验证。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CAB00-F7A2-4DE9-BD8B-235DD110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wf313p-3">
            <a:extLst xmlns:a="http://schemas.openxmlformats.org/drawingml/2006/main">
              <a:ext uri="{FF2B5EF4-FFF2-40B4-BE49-F238E27FC236}">
                <a16:creationId xmlns:a16="http://schemas.microsoft.com/office/drawing/2014/main" id="{FB1D5448-D78A-4C19-917B-0FF27CDC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wf313p-4">
            <a:extLst xmlns:a="http://schemas.openxmlformats.org/drawingml/2006/main">
              <a:ext uri="{FF2B5EF4-FFF2-40B4-BE49-F238E27FC236}">
                <a16:creationId xmlns:a16="http://schemas.microsoft.com/office/drawing/2014/main" id="{9C6C097E-CE2F-4052-92CA-E78DA591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602B8-6FE4-4567-AB34-98CDEA48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1277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8" name="text-wf313p-5">
            <a:extLst xmlns:a="http://schemas.openxmlformats.org/drawingml/2006/main">
              <a:ext uri="{FF2B5EF4-FFF2-40B4-BE49-F238E27FC236}">
                <a16:creationId xmlns:a16="http://schemas.microsoft.com/office/drawing/2014/main" id="{6F859E5F-E1A8-4FA6-B99E-CC50A681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配置项</a:t>
            </a:r>
          </a:p>
        </p:txBody>
      </p:sp>
      <p:sp>
        <p:nvSpPr>
          <p:cNvPr id="9" name="text-wf313p-6">
            <a:extLst xmlns:a="http://schemas.openxmlformats.org/drawingml/2006/main">
              <a:ext uri="{FF2B5EF4-FFF2-40B4-BE49-F238E27FC236}">
                <a16:creationId xmlns:a16="http://schemas.microsoft.com/office/drawing/2014/main" id="{3DF32EBC-AD35-444A-9C02-D70BA747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43150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当前取值</a:t>
            </a:r>
          </a:p>
        </p:txBody>
      </p:sp>
      <p:sp>
        <p:nvSpPr>
          <p:cNvPr id="10" name="text-wf313p-7">
            <a:extLst xmlns:a="http://schemas.openxmlformats.org/drawingml/2006/main">
              <a:ext uri="{FF2B5EF4-FFF2-40B4-BE49-F238E27FC236}">
                <a16:creationId xmlns:a16="http://schemas.microsoft.com/office/drawing/2014/main" id="{0B98B7D4-941B-48D7-93B2-274E1E19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43150"/>
            <a:ext cx="389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怎么理解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E6AED-0B15-4983-92FD-80087080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12" name="text-wf313p-8">
            <a:extLst xmlns:a="http://schemas.openxmlformats.org/drawingml/2006/main">
              <a:ext uri="{FF2B5EF4-FFF2-40B4-BE49-F238E27FC236}">
                <a16:creationId xmlns:a16="http://schemas.microsoft.com/office/drawing/2014/main" id="{D6D93C25-4088-4C40-A886-10E1FA19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Broker 地址 / 端口</a:t>
            </a:r>
          </a:p>
        </p:txBody>
      </p:sp>
      <p:sp>
        <p:nvSpPr>
          <p:cNvPr id="13" name="text-wf313p-9">
            <a:extLst xmlns:a="http://schemas.openxmlformats.org/drawingml/2006/main">
              <a:ext uri="{FF2B5EF4-FFF2-40B4-BE49-F238E27FC236}">
                <a16:creationId xmlns:a16="http://schemas.microsoft.com/office/drawing/2014/main" id="{107060C0-1CB9-4EBA-958E-6A215154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127.0.0.1 : 1883</a:t>
            </a:r>
          </a:p>
        </p:txBody>
      </p:sp>
      <p:sp>
        <p:nvSpPr>
          <p:cNvPr id="14" name="text-wf313p-10">
            <a:extLst xmlns:a="http://schemas.openxmlformats.org/drawingml/2006/main">
              <a:ext uri="{FF2B5EF4-FFF2-40B4-BE49-F238E27FC236}">
                <a16:creationId xmlns:a16="http://schemas.microsoft.com/office/drawing/2014/main" id="{B3BBC16F-37F3-4BE9-BEA5-10FCDEB5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914650"/>
            <a:ext cx="389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连接本机 MQTT 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13239-4F80-42A5-A855-94EE390C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16" name="text-wf313p-11">
            <a:extLst xmlns:a="http://schemas.openxmlformats.org/drawingml/2006/main">
              <a:ext uri="{FF2B5EF4-FFF2-40B4-BE49-F238E27FC236}">
                <a16:creationId xmlns:a16="http://schemas.microsoft.com/office/drawing/2014/main" id="{D430EEEF-57A4-4492-8BEE-98DFF113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ClientId</a:t>
            </a:r>
          </a:p>
        </p:txBody>
      </p:sp>
      <p:sp>
        <p:nvSpPr>
          <p:cNvPr id="17" name="text-wf313p-12">
            <a:extLst xmlns:a="http://schemas.openxmlformats.org/drawingml/2006/main">
              <a:ext uri="{FF2B5EF4-FFF2-40B4-BE49-F238E27FC236}">
                <a16:creationId xmlns:a16="http://schemas.microsoft.com/office/drawing/2014/main" id="{A0A075FE-F885-4349-812E-E0B0A919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86150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EdgeC3</a:t>
            </a:r>
          </a:p>
        </p:txBody>
      </p:sp>
      <p:sp>
        <p:nvSpPr>
          <p:cNvPr id="18" name="text-wf313p-13">
            <a:extLst xmlns:a="http://schemas.openxmlformats.org/drawingml/2006/main">
              <a:ext uri="{FF2B5EF4-FFF2-40B4-BE49-F238E27FC236}">
                <a16:creationId xmlns:a16="http://schemas.microsoft.com/office/drawing/2014/main" id="{C27BFDF6-E966-4102-A73C-62A9057A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486150"/>
            <a:ext cx="389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边缘客户端的连接身份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121A7-7B67-4238-B2E4-3EA47D6E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20" name="text-wf313p-14">
            <a:extLst xmlns:a="http://schemas.openxmlformats.org/drawingml/2006/main">
              <a:ext uri="{FF2B5EF4-FFF2-40B4-BE49-F238E27FC236}">
                <a16:creationId xmlns:a16="http://schemas.microsoft.com/office/drawing/2014/main" id="{91BD51AC-FE55-4FB4-89A0-C361D27F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发布 / 订阅 QoS</a:t>
            </a:r>
          </a:p>
        </p:txBody>
      </p:sp>
      <p:sp>
        <p:nvSpPr>
          <p:cNvPr id="21" name="text-wf313p-15">
            <a:extLst xmlns:a="http://schemas.openxmlformats.org/drawingml/2006/main">
              <a:ext uri="{FF2B5EF4-FFF2-40B4-BE49-F238E27FC236}">
                <a16:creationId xmlns:a16="http://schemas.microsoft.com/office/drawing/2014/main" id="{7F7D7D6E-A377-4239-9CF9-29C6C4CA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均为 0</a:t>
            </a:r>
          </a:p>
        </p:txBody>
      </p:sp>
      <p:sp>
        <p:nvSpPr>
          <p:cNvPr id="22" name="text-wf313p-16">
            <a:extLst xmlns:a="http://schemas.openxmlformats.org/drawingml/2006/main">
              <a:ext uri="{FF2B5EF4-FFF2-40B4-BE49-F238E27FC236}">
                <a16:creationId xmlns:a16="http://schemas.microsoft.com/office/drawing/2014/main" id="{0CBDC30D-1EAA-4D6B-B8D4-1508FC67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057650"/>
            <a:ext cx="389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至多一次；无协议确认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EA1DE-B204-43AC-BB35-7D122CB2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24" name="text-wf313p-17">
            <a:extLst xmlns:a="http://schemas.openxmlformats.org/drawingml/2006/main">
              <a:ext uri="{FF2B5EF4-FFF2-40B4-BE49-F238E27FC236}">
                <a16:creationId xmlns:a16="http://schemas.microsoft.com/office/drawing/2014/main" id="{131DE5DF-ABCE-4A55-A4B2-0E52FBA4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自动重连延迟</a:t>
            </a:r>
          </a:p>
        </p:txBody>
      </p:sp>
      <p:sp>
        <p:nvSpPr>
          <p:cNvPr id="25" name="text-wf313p-18">
            <a:extLst xmlns:a="http://schemas.openxmlformats.org/drawingml/2006/main">
              <a:ext uri="{FF2B5EF4-FFF2-40B4-BE49-F238E27FC236}">
                <a16:creationId xmlns:a16="http://schemas.microsoft.com/office/drawing/2014/main" id="{176B044F-4497-46F9-AC2A-E8EFAC04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29150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5 秒</a:t>
            </a:r>
          </a:p>
        </p:txBody>
      </p:sp>
      <p:sp>
        <p:nvSpPr>
          <p:cNvPr id="26" name="text-wf313p-19">
            <a:extLst xmlns:a="http://schemas.openxmlformats.org/drawingml/2006/main">
              <a:ext uri="{FF2B5EF4-FFF2-40B4-BE49-F238E27FC236}">
                <a16:creationId xmlns:a16="http://schemas.microsoft.com/office/drawing/2014/main" id="{C5EE787C-80CC-4456-B4D5-AB33890E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629150"/>
            <a:ext cx="389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失败后重连等待设置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94026-3B82-4C07-A33E-CE4369B0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28" name="text-wf313p-20">
            <a:extLst xmlns:a="http://schemas.openxmlformats.org/drawingml/2006/main">
              <a:ext uri="{FF2B5EF4-FFF2-40B4-BE49-F238E27FC236}">
                <a16:creationId xmlns:a16="http://schemas.microsoft.com/office/drawing/2014/main" id="{E824BA5A-6421-487F-A8E6-17C2A1B5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认证 / TLS</a:t>
            </a:r>
          </a:p>
        </p:txBody>
      </p:sp>
      <p:sp>
        <p:nvSpPr>
          <p:cNvPr id="29" name="text-wf313p-21">
            <a:extLst xmlns:a="http://schemas.openxmlformats.org/drawingml/2006/main">
              <a:ext uri="{FF2B5EF4-FFF2-40B4-BE49-F238E27FC236}">
                <a16:creationId xmlns:a16="http://schemas.microsoft.com/office/drawing/2014/main" id="{29B602D5-8F1C-498A-9423-C5F74A8E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00650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本封装未配置</a:t>
            </a:r>
          </a:p>
        </p:txBody>
      </p:sp>
      <p:sp>
        <p:nvSpPr>
          <p:cNvPr id="30" name="text-wf313p-22">
            <a:extLst xmlns:a="http://schemas.openxmlformats.org/drawingml/2006/main">
              <a:ext uri="{FF2B5EF4-FFF2-40B4-BE49-F238E27FC236}">
                <a16:creationId xmlns:a16="http://schemas.microsoft.com/office/drawing/2014/main" id="{20B2EE13-3262-45C3-83DC-6C92114C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00650"/>
            <a:ext cx="389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实际访问保护需另行确认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592134-7214-48CB-8CC0-66E62837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</p:spTree>
    <p:extLst>
      <p:ext uri="{BB962C8B-B14F-4D97-AF65-F5344CB8AC3E}">
        <p14:creationId xmlns:p14="http://schemas.microsoft.com/office/powerpoint/2010/main" val="1100780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umdutl-0">
            <a:extLst xmlns:a="http://schemas.openxmlformats.org/drawingml/2006/main">
              <a:ext uri="{FF2B5EF4-FFF2-40B4-BE49-F238E27FC236}">
                <a16:creationId xmlns:a16="http://schemas.microsoft.com/office/drawing/2014/main" id="{EB8E0ACC-8DB6-4488-BB57-E5F03068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04 / 命令下行</a:t>
            </a:r>
          </a:p>
        </p:txBody>
      </p:sp>
      <p:sp>
        <p:nvSpPr>
          <p:cNvPr id="2" name="text-umdutl-1">
            <a:extLst xmlns:a="http://schemas.openxmlformats.org/drawingml/2006/main">
              <a:ext uri="{FF2B5EF4-FFF2-40B4-BE49-F238E27FC236}">
                <a16:creationId xmlns:a16="http://schemas.microsoft.com/office/drawing/2014/main" id="{C2B32801-943B-4085-8411-E12BFBC3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命令下行经过接收、排队与处理</a:t>
            </a:r>
          </a:p>
        </p:txBody>
      </p:sp>
      <p:sp>
        <p:nvSpPr>
          <p:cNvPr id="3" name="text-umdutl-2">
            <a:extLst xmlns:a="http://schemas.openxmlformats.org/drawingml/2006/main">
              <a:ext uri="{FF2B5EF4-FFF2-40B4-BE49-F238E27FC236}">
                <a16:creationId xmlns:a16="http://schemas.microsoft.com/office/drawing/2014/main" id="{07ECA9A8-6B60-4CD8-8988-EE9A62C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后端 → Broker → 边缘 MQTT 回调 → 命令队列 → 处理方法 → PLC。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32C92-3506-494C-99A8-631E8D1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umdutl-3">
            <a:extLst xmlns:a="http://schemas.openxmlformats.org/drawingml/2006/main">
              <a:ext uri="{FF2B5EF4-FFF2-40B4-BE49-F238E27FC236}">
                <a16:creationId xmlns:a16="http://schemas.microsoft.com/office/drawing/2014/main" id="{70978F95-A4F4-411C-B3CC-B9C4ABD3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umdutl-4">
            <a:extLst xmlns:a="http://schemas.openxmlformats.org/drawingml/2006/main">
              <a:ext uri="{FF2B5EF4-FFF2-40B4-BE49-F238E27FC236}">
                <a16:creationId xmlns:a16="http://schemas.microsoft.com/office/drawing/2014/main" id="{CD50D780-16C2-4933-8377-7CB7AA53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249C3-8C25-42EB-9CAB-30179200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820"/>
            </a:solidFill>
          </a:ln>
        </p:spPr>
      </p:sp>
      <p:sp>
        <p:nvSpPr>
          <p:cNvPr id="8" name="text-umdutl-5">
            <a:extLst xmlns:a="http://schemas.openxmlformats.org/drawingml/2006/main">
              <a:ext uri="{FF2B5EF4-FFF2-40B4-BE49-F238E27FC236}">
                <a16:creationId xmlns:a16="http://schemas.microsoft.com/office/drawing/2014/main" id="{E281A872-1E77-4D9D-80EF-3615075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接收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93FCD-ADB9-4901-AD52-44EDA06C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text-umdutl-6">
            <a:extLst xmlns:a="http://schemas.openxmlformats.org/drawingml/2006/main">
              <a:ext uri="{FF2B5EF4-FFF2-40B4-BE49-F238E27FC236}">
                <a16:creationId xmlns:a16="http://schemas.microsoft.com/office/drawing/2014/main" id="{77AF9A46-4B74-41ED-87D6-B2F1ABF7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消息变成文本</a:t>
            </a:r>
          </a:p>
        </p:txBody>
      </p:sp>
      <p:sp>
        <p:nvSpPr>
          <p:cNvPr id="11" name="text-umdutl-7">
            <a:extLst xmlns:a="http://schemas.openxmlformats.org/drawingml/2006/main">
              <a:ext uri="{FF2B5EF4-FFF2-40B4-BE49-F238E27FC236}">
                <a16:creationId xmlns:a16="http://schemas.microsoft.com/office/drawing/2014/main" id="{22F78CDA-F250-445A-B522-43525056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回调拿到 Topic 与负载。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按 UTF-8 解码，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触发 MessageReceived。</a:t>
            </a:r>
          </a:p>
        </p:txBody>
      </p:sp>
      <p:sp>
        <p:nvSpPr>
          <p:cNvPr id="12" name="text-umdutl-8">
            <a:extLst xmlns:a="http://schemas.openxmlformats.org/drawingml/2006/main">
              <a:ext uri="{FF2B5EF4-FFF2-40B4-BE49-F238E27FC236}">
                <a16:creationId xmlns:a16="http://schemas.microsoft.com/office/drawing/2014/main" id="{C5D1527B-9299-4948-B3A5-531DD27F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排队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1E2D5-D2EB-4EDF-A5B2-2FAE9BA5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4" name="text-umdutl-9">
            <a:extLst xmlns:a="http://schemas.openxmlformats.org/drawingml/2006/main">
              <a:ext uri="{FF2B5EF4-FFF2-40B4-BE49-F238E27FC236}">
                <a16:creationId xmlns:a16="http://schemas.microsoft.com/office/drawing/2014/main" id="{396382CA-6F93-4B98-A6DD-DE130AF4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JSON 变成命令</a:t>
            </a:r>
          </a:p>
        </p:txBody>
      </p:sp>
      <p:sp>
        <p:nvSpPr>
          <p:cNvPr id="15" name="text-umdutl-10">
            <a:extLst xmlns:a="http://schemas.openxmlformats.org/drawingml/2006/main">
              <a:ext uri="{FF2B5EF4-FFF2-40B4-BE49-F238E27FC236}">
                <a16:creationId xmlns:a16="http://schemas.microsoft.com/office/drawing/2014/main" id="{BCD45E7B-D856-4814-87EE-57D28951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CMD 分支反序列化。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加入内存队列，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由后台服务依次消费。</a:t>
            </a:r>
          </a:p>
        </p:txBody>
      </p:sp>
      <p:sp>
        <p:nvSpPr>
          <p:cNvPr id="16" name="text-umdutl-11">
            <a:extLst xmlns:a="http://schemas.openxmlformats.org/drawingml/2006/main">
              <a:ext uri="{FF2B5EF4-FFF2-40B4-BE49-F238E27FC236}">
                <a16:creationId xmlns:a16="http://schemas.microsoft.com/office/drawing/2014/main" id="{3F7D8A78-6821-474E-9F68-CF321E47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5D986-D2A3-4E4C-BC78-4F02017B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8" name="text-umdutl-12">
            <a:extLst xmlns:a="http://schemas.openxmlformats.org/drawingml/2006/main">
              <a:ext uri="{FF2B5EF4-FFF2-40B4-BE49-F238E27FC236}">
                <a16:creationId xmlns:a16="http://schemas.microsoft.com/office/drawing/2014/main" id="{C8F13E12-E240-400D-B9F3-7CE17561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按 Cmd 找方法</a:t>
            </a:r>
          </a:p>
        </p:txBody>
      </p:sp>
      <p:sp>
        <p:nvSpPr>
          <p:cNvPr id="19" name="text-umdutl-13">
            <a:extLst xmlns:a="http://schemas.openxmlformats.org/drawingml/2006/main">
              <a:ext uri="{FF2B5EF4-FFF2-40B4-BE49-F238E27FC236}">
                <a16:creationId xmlns:a16="http://schemas.microsoft.com/office/drawing/2014/main" id="{81DD9E9B-0907-489E-8B29-C78596FD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CommandService 分发。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方法修改控制数据，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或通过 TCP 下发命令。</a:t>
            </a:r>
          </a:p>
        </p:txBody>
      </p:sp>
    </p:spTree>
    <p:extLst>
      <p:ext uri="{BB962C8B-B14F-4D97-AF65-F5344CB8AC3E}">
        <p14:creationId xmlns:p14="http://schemas.microsoft.com/office/powerpoint/2010/main" val="17285033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8375m-0">
            <a:extLst xmlns:a="http://schemas.openxmlformats.org/drawingml/2006/main">
              <a:ext uri="{FF2B5EF4-FFF2-40B4-BE49-F238E27FC236}">
                <a16:creationId xmlns:a16="http://schemas.microsoft.com/office/drawing/2014/main" id="{E3F93BFB-85BB-4FC4-BE95-0CDCB5EB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04 / 命令下行</a:t>
            </a:r>
          </a:p>
        </p:txBody>
      </p:sp>
      <p:sp>
        <p:nvSpPr>
          <p:cNvPr id="2" name="text-08375m-1">
            <a:extLst xmlns:a="http://schemas.openxmlformats.org/drawingml/2006/main">
              <a:ext uri="{FF2B5EF4-FFF2-40B4-BE49-F238E27FC236}">
                <a16:creationId xmlns:a16="http://schemas.microsoft.com/office/drawing/2014/main" id="{ED76641B-4FC5-45F2-AF77-91D086C9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一条命令包含 ID、Cmd 和 Value</a:t>
            </a:r>
          </a:p>
        </p:txBody>
      </p:sp>
      <p:sp>
        <p:nvSpPr>
          <p:cNvPr id="3" name="text-08375m-2">
            <a:extLst xmlns:a="http://schemas.openxmlformats.org/drawingml/2006/main">
              <a:ext uri="{FF2B5EF4-FFF2-40B4-BE49-F238E27FC236}">
                <a16:creationId xmlns:a16="http://schemas.microsoft.com/office/drawing/2014/main" id="{8A99B64F-10BC-4AD6-A59F-70B89419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示例仅用于理解数据结构，不向真实设备发送；Aciton 保留源码拼写。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8394F-46CE-42A6-9788-BBB696F6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08375m-3">
            <a:extLst xmlns:a="http://schemas.openxmlformats.org/drawingml/2006/main">
              <a:ext uri="{FF2B5EF4-FFF2-40B4-BE49-F238E27FC236}">
                <a16:creationId xmlns:a16="http://schemas.microsoft.com/office/drawing/2014/main" id="{8FEFC013-0CBB-40C1-90A9-8384D9F0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08375m-4">
            <a:extLst xmlns:a="http://schemas.openxmlformats.org/drawingml/2006/main">
              <a:ext uri="{FF2B5EF4-FFF2-40B4-BE49-F238E27FC236}">
                <a16:creationId xmlns:a16="http://schemas.microsoft.com/office/drawing/2014/main" id="{5331540A-25AF-4CB7-A905-D078EEC6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text-08375m-5">
            <a:extLst xmlns:a="http://schemas.openxmlformats.org/drawingml/2006/main">
              <a:ext uri="{FF2B5EF4-FFF2-40B4-BE49-F238E27FC236}">
                <a16:creationId xmlns:a16="http://schemas.microsoft.com/office/drawing/2014/main" id="{0CEE23DD-94A0-4D18-9DB2-714150E4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CMD 主题中的 JSON</a:t>
            </a:r>
          </a:p>
        </p:txBody>
      </p:sp>
      <p:sp>
        <p:nvSpPr>
          <p:cNvPr id="8" name="text-08375m-6">
            <a:extLst xmlns:a="http://schemas.openxmlformats.org/drawingml/2006/main">
              <a:ext uri="{FF2B5EF4-FFF2-40B4-BE49-F238E27FC236}">
                <a16:creationId xmlns:a16="http://schemas.microsoft.com/office/drawing/2014/main" id="{D50E2007-A06B-4F42-BF87-45D38D28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334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  "ID": 42,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  "Cmd": "WalkTargetAciton",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  "Value": "12.3"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}</a:t>
            </a:r>
          </a:p>
        </p:txBody>
      </p:sp>
      <p:sp>
        <p:nvSpPr>
          <p:cNvPr id="9" name="text-08375m-7">
            <a:extLst xmlns:a="http://schemas.openxmlformats.org/drawingml/2006/main">
              <a:ext uri="{FF2B5EF4-FFF2-40B4-BE49-F238E27FC236}">
                <a16:creationId xmlns:a16="http://schemas.microsoft.com/office/drawing/2014/main" id="{CAB0D420-B853-4AF1-A81F-2C38B08F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三个字段分别负责什么</a:t>
            </a:r>
          </a:p>
        </p:txBody>
      </p:sp>
      <p:sp>
        <p:nvSpPr>
          <p:cNvPr id="10" name="text-08375m-8">
            <a:extLst xmlns:a="http://schemas.openxmlformats.org/drawingml/2006/main">
              <a:ext uri="{FF2B5EF4-FFF2-40B4-BE49-F238E27FC236}">
                <a16:creationId xmlns:a16="http://schemas.microsoft.com/office/drawing/2014/main" id="{7414ADE4-DFCA-475F-84E9-C1E5AF80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53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ID：关联这一次业务请求。</a:t>
            </a:r>
          </a:p>
        </p:txBody>
      </p:sp>
      <p:sp>
        <p:nvSpPr>
          <p:cNvPr id="11" name="text-08375m-9">
            <a:extLst xmlns:a="http://schemas.openxmlformats.org/drawingml/2006/main">
              <a:ext uri="{FF2B5EF4-FFF2-40B4-BE49-F238E27FC236}">
                <a16:creationId xmlns:a16="http://schemas.microsoft.com/office/drawing/2014/main" id="{400888D7-4F0E-4F8A-86A8-EC58B598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53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Cmd：选择命令处理方法。</a:t>
            </a:r>
          </a:p>
        </p:txBody>
      </p:sp>
      <p:sp>
        <p:nvSpPr>
          <p:cNvPr id="12" name="text-08375m-10">
            <a:extLst xmlns:a="http://schemas.openxmlformats.org/drawingml/2006/main">
              <a:ext uri="{FF2B5EF4-FFF2-40B4-BE49-F238E27FC236}">
                <a16:creationId xmlns:a16="http://schemas.microsoft.com/office/drawing/2014/main" id="{50E80D0F-8BA6-41DD-80AE-3C92CE50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95850"/>
            <a:ext cx="53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Value：提供该命令的参数。</a:t>
            </a:r>
          </a:p>
        </p:txBody>
      </p:sp>
    </p:spTree>
    <p:extLst>
      <p:ext uri="{BB962C8B-B14F-4D97-AF65-F5344CB8AC3E}">
        <p14:creationId xmlns:p14="http://schemas.microsoft.com/office/powerpoint/2010/main" val="167394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umdutl-0">
            <a:extLst xmlns:a="http://schemas.openxmlformats.org/drawingml/2006/main">
              <a:ext uri="{FF2B5EF4-FFF2-40B4-BE49-F238E27FC236}">
                <a16:creationId xmlns:a16="http://schemas.microsoft.com/office/drawing/2014/main" id="{EB8E0ACC-8DB6-4488-BB57-E5F03068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05 / 状态上行</a:t>
            </a:r>
          </a:p>
        </p:txBody>
      </p:sp>
      <p:sp>
        <p:nvSpPr>
          <p:cNvPr id="2" name="text-umdutl-1">
            <a:extLst xmlns:a="http://schemas.openxmlformats.org/drawingml/2006/main">
              <a:ext uri="{FF2B5EF4-FFF2-40B4-BE49-F238E27FC236}">
                <a16:creationId xmlns:a16="http://schemas.microsoft.com/office/drawing/2014/main" id="{C2B32801-943B-4085-8411-E12BFBC3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PLC 状态整理后发布到 STATE</a:t>
            </a:r>
          </a:p>
        </p:txBody>
      </p:sp>
      <p:sp>
        <p:nvSpPr>
          <p:cNvPr id="3" name="text-umdutl-2">
            <a:extLst xmlns:a="http://schemas.openxmlformats.org/drawingml/2006/main">
              <a:ext uri="{FF2B5EF4-FFF2-40B4-BE49-F238E27FC236}">
                <a16:creationId xmlns:a16="http://schemas.microsoft.com/office/drawing/2014/main" id="{07ECA9A8-6B60-4CD8-8988-EE9A62C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PLC → TCP 接收 → PlcToEdgeService → JSON → MQTT Broker → 后端。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32C92-3506-494C-99A8-631E8D1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umdutl-3">
            <a:extLst xmlns:a="http://schemas.openxmlformats.org/drawingml/2006/main">
              <a:ext uri="{FF2B5EF4-FFF2-40B4-BE49-F238E27FC236}">
                <a16:creationId xmlns:a16="http://schemas.microsoft.com/office/drawing/2014/main" id="{70978F95-A4F4-411C-B3CC-B9C4ABD3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umdutl-4">
            <a:extLst xmlns:a="http://schemas.openxmlformats.org/drawingml/2006/main">
              <a:ext uri="{FF2B5EF4-FFF2-40B4-BE49-F238E27FC236}">
                <a16:creationId xmlns:a16="http://schemas.microsoft.com/office/drawing/2014/main" id="{CD50D780-16C2-4933-8377-7CB7AA53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249C3-8C25-42EB-9CAB-30179200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820"/>
            </a:solidFill>
          </a:ln>
        </p:spPr>
      </p:sp>
      <p:sp>
        <p:nvSpPr>
          <p:cNvPr id="8" name="text-umdutl-5">
            <a:extLst xmlns:a="http://schemas.openxmlformats.org/drawingml/2006/main">
              <a:ext uri="{FF2B5EF4-FFF2-40B4-BE49-F238E27FC236}">
                <a16:creationId xmlns:a16="http://schemas.microsoft.com/office/drawing/2014/main" id="{E281A872-1E77-4D9D-80EF-3615075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收到状态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93FCD-ADB9-4901-AD52-44EDA06C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text-umdutl-6">
            <a:extLst xmlns:a="http://schemas.openxmlformats.org/drawingml/2006/main">
              <a:ext uri="{FF2B5EF4-FFF2-40B4-BE49-F238E27FC236}">
                <a16:creationId xmlns:a16="http://schemas.microsoft.com/office/drawing/2014/main" id="{77AF9A46-4B74-41ED-87D6-B2F1ABF7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进入 CatchData</a:t>
            </a:r>
          </a:p>
        </p:txBody>
      </p:sp>
      <p:sp>
        <p:nvSpPr>
          <p:cNvPr id="11" name="text-umdutl-7">
            <a:extLst xmlns:a="http://schemas.openxmlformats.org/drawingml/2006/main">
              <a:ext uri="{FF2B5EF4-FFF2-40B4-BE49-F238E27FC236}">
                <a16:creationId xmlns:a16="http://schemas.microsoft.com/office/drawing/2014/main" id="{22F78CDA-F250-445A-B522-43525056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TCP 收到 PLC 状态后，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触发状态处理。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数据源来自设备侧。</a:t>
            </a:r>
          </a:p>
        </p:txBody>
      </p:sp>
      <p:sp>
        <p:nvSpPr>
          <p:cNvPr id="12" name="text-umdutl-8">
            <a:extLst xmlns:a="http://schemas.openxmlformats.org/drawingml/2006/main">
              <a:ext uri="{FF2B5EF4-FFF2-40B4-BE49-F238E27FC236}">
                <a16:creationId xmlns:a16="http://schemas.microsoft.com/office/drawing/2014/main" id="{C5D1527B-9299-4948-B3A5-531DD27F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整理数据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1E2D5-D2EB-4EDF-A5B2-2FAE9BA5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4" name="text-umdutl-9">
            <a:extLst xmlns:a="http://schemas.openxmlformats.org/drawingml/2006/main">
              <a:ext uri="{FF2B5EF4-FFF2-40B4-BE49-F238E27FC236}">
                <a16:creationId xmlns:a16="http://schemas.microsoft.com/office/drawing/2014/main" id="{396382CA-6F93-4B98-A6DD-DE130AF4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更新 AllData</a:t>
            </a:r>
          </a:p>
        </p:txBody>
      </p:sp>
      <p:sp>
        <p:nvSpPr>
          <p:cNvPr id="15" name="text-umdutl-10">
            <a:extLst xmlns:a="http://schemas.openxmlformats.org/drawingml/2006/main">
              <a:ext uri="{FF2B5EF4-FFF2-40B4-BE49-F238E27FC236}">
                <a16:creationId xmlns:a16="http://schemas.microsoft.com/office/drawing/2014/main" id="{BCD45E7B-D856-4814-87EE-57D28951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解析并映射设备状态。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把底层字段整理成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业务可使用的对象。</a:t>
            </a:r>
          </a:p>
        </p:txBody>
      </p:sp>
      <p:sp>
        <p:nvSpPr>
          <p:cNvPr id="16" name="text-umdutl-11">
            <a:extLst xmlns:a="http://schemas.openxmlformats.org/drawingml/2006/main">
              <a:ext uri="{FF2B5EF4-FFF2-40B4-BE49-F238E27FC236}">
                <a16:creationId xmlns:a16="http://schemas.microsoft.com/office/drawing/2014/main" id="{3F7D8A78-6821-474E-9F68-CF321E47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发布状态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5D986-D2A3-4E4C-BC78-4F02017B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8" name="text-umdutl-12">
            <a:extLst xmlns:a="http://schemas.openxmlformats.org/drawingml/2006/main">
              <a:ext uri="{FF2B5EF4-FFF2-40B4-BE49-F238E27FC236}">
                <a16:creationId xmlns:a16="http://schemas.microsoft.com/office/drawing/2014/main" id="{C8F13E12-E240-400D-B9F3-7CE17561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发送 STATE 消息</a:t>
            </a:r>
          </a:p>
        </p:txBody>
      </p:sp>
      <p:sp>
        <p:nvSpPr>
          <p:cNvPr id="19" name="text-umdutl-13">
            <a:extLst xmlns:a="http://schemas.openxmlformats.org/drawingml/2006/main">
              <a:ext uri="{FF2B5EF4-FFF2-40B4-BE49-F238E27FC236}">
                <a16:creationId xmlns:a16="http://schemas.microsoft.com/office/drawing/2014/main" id="{81DD9E9B-0907-489E-8B29-C78596FD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序列化 AllData 为 JSON。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调用 PublishMessage，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交给托管客户端发送。</a:t>
            </a:r>
          </a:p>
        </p:txBody>
      </p:sp>
    </p:spTree>
    <p:extLst>
      <p:ext uri="{BB962C8B-B14F-4D97-AF65-F5344CB8AC3E}">
        <p14:creationId xmlns:p14="http://schemas.microsoft.com/office/powerpoint/2010/main" val="17285033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3xy92-0">
            <a:extLst xmlns:a="http://schemas.openxmlformats.org/drawingml/2006/main">
              <a:ext uri="{FF2B5EF4-FFF2-40B4-BE49-F238E27FC236}">
                <a16:creationId xmlns:a16="http://schemas.microsoft.com/office/drawing/2014/main" id="{8E6A79D6-996E-491D-B249-1A9CD746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05 / 状态上行</a:t>
            </a:r>
          </a:p>
        </p:txBody>
      </p:sp>
      <p:sp>
        <p:nvSpPr>
          <p:cNvPr id="2" name="text-23xy92-1">
            <a:extLst xmlns:a="http://schemas.openxmlformats.org/drawingml/2006/main">
              <a:ext uri="{FF2B5EF4-FFF2-40B4-BE49-F238E27FC236}">
                <a16:creationId xmlns:a16="http://schemas.microsoft.com/office/drawing/2014/main" id="{B407E39C-0811-4022-A033-31643C70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RETURN 与心跳回答不同问题</a:t>
            </a:r>
          </a:p>
        </p:txBody>
      </p:sp>
      <p:sp>
        <p:nvSpPr>
          <p:cNvPr id="3" name="text-23xy92-2">
            <a:extLst xmlns:a="http://schemas.openxmlformats.org/drawingml/2006/main">
              <a:ext uri="{FF2B5EF4-FFF2-40B4-BE49-F238E27FC236}">
                <a16:creationId xmlns:a16="http://schemas.microsoft.com/office/drawing/2014/main" id="{720F65FD-180E-4204-A1EE-6500AAD0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RETURN 关注某条命令；HeartBeat 关注 PLC 状态链路的到达。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3CB70-9485-44F8-B9B9-60BA40E6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23xy92-3">
            <a:extLst xmlns:a="http://schemas.openxmlformats.org/drawingml/2006/main">
              <a:ext uri="{FF2B5EF4-FFF2-40B4-BE49-F238E27FC236}">
                <a16:creationId xmlns:a16="http://schemas.microsoft.com/office/drawing/2014/main" id="{786A285D-122C-43EA-B9EB-7CB9DA5F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23xy92-4">
            <a:extLst xmlns:a="http://schemas.openxmlformats.org/drawingml/2006/main">
              <a:ext uri="{FF2B5EF4-FFF2-40B4-BE49-F238E27FC236}">
                <a16:creationId xmlns:a16="http://schemas.microsoft.com/office/drawing/2014/main" id="{E93AED47-5748-4F56-B088-93DE30F1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text-23xy92-5">
            <a:extLst xmlns:a="http://schemas.openxmlformats.org/drawingml/2006/main">
              <a:ext uri="{FF2B5EF4-FFF2-40B4-BE49-F238E27FC236}">
                <a16:creationId xmlns:a16="http://schemas.microsoft.com/office/drawing/2014/main" id="{E1D147F6-0738-4CC7-9B3A-534FC97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544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RETURN：命令处理结果</a:t>
            </a:r>
          </a:p>
        </p:txBody>
      </p:sp>
      <p:sp>
        <p:nvSpPr>
          <p:cNvPr id="8" name="text-23xy92-6">
            <a:extLst xmlns:a="http://schemas.openxmlformats.org/drawingml/2006/main">
              <a:ext uri="{FF2B5EF4-FFF2-40B4-BE49-F238E27FC236}">
                <a16:creationId xmlns:a16="http://schemas.microsoft.com/office/drawing/2014/main" id="{14401DE5-8A94-4787-AEE0-13A301E9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通过业务 ID 对应某条请求。</a:t>
            </a:r>
          </a:p>
        </p:txBody>
      </p:sp>
      <p:sp>
        <p:nvSpPr>
          <p:cNvPr id="9" name="text-23xy92-7">
            <a:extLst xmlns:a="http://schemas.openxmlformats.org/drawingml/2006/main">
              <a:ext uri="{FF2B5EF4-FFF2-40B4-BE49-F238E27FC236}">
                <a16:creationId xmlns:a16="http://schemas.microsoft.com/office/drawing/2014/main" id="{A75CD944-18EB-4EB2-A95A-F1BFD23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包含 Cmd、Result、CommandState 等。</a:t>
            </a:r>
          </a:p>
        </p:txBody>
      </p:sp>
      <p:sp>
        <p:nvSpPr>
          <p:cNvPr id="10" name="text-23xy92-8">
            <a:extLst xmlns:a="http://schemas.openxmlformats.org/drawingml/2006/main">
              <a:ext uri="{FF2B5EF4-FFF2-40B4-BE49-F238E27FC236}">
                <a16:creationId xmlns:a16="http://schemas.microsoft.com/office/drawing/2014/main" id="{8A859DA4-4043-488A-9351-6A6C0913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不同命令的“完成”含义要看实现。</a:t>
            </a:r>
          </a:p>
        </p:txBody>
      </p:sp>
      <p:sp>
        <p:nvSpPr>
          <p:cNvPr id="11" name="text-23xy92-9">
            <a:extLst xmlns:a="http://schemas.openxmlformats.org/drawingml/2006/main">
              <a:ext uri="{FF2B5EF4-FFF2-40B4-BE49-F238E27FC236}">
                <a16:creationId xmlns:a16="http://schemas.microsoft.com/office/drawing/2014/main" id="{7D0FA834-F077-49CD-B34B-A222C32C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44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HeartBeat：状态链路观察</a:t>
            </a:r>
          </a:p>
        </p:txBody>
      </p:sp>
      <p:sp>
        <p:nvSpPr>
          <p:cNvPr id="12" name="text-23xy92-10">
            <a:extLst xmlns:a="http://schemas.openxmlformats.org/drawingml/2006/main">
              <a:ext uri="{FF2B5EF4-FFF2-40B4-BE49-F238E27FC236}">
                <a16:creationId xmlns:a16="http://schemas.microsoft.com/office/drawing/2014/main" id="{9C01B854-CEB6-4AB9-83D8-CCB4DB94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来自 PLC 状态中的 VerifyID。</a:t>
            </a:r>
          </a:p>
        </p:txBody>
      </p:sp>
      <p:sp>
        <p:nvSpPr>
          <p:cNvPr id="13" name="text-23xy92-11">
            <a:extLst xmlns:a="http://schemas.openxmlformats.org/drawingml/2006/main">
              <a:ext uri="{FF2B5EF4-FFF2-40B4-BE49-F238E27FC236}">
                <a16:creationId xmlns:a16="http://schemas.microsoft.com/office/drawing/2014/main" id="{7DD01BEE-D7EB-4C42-87DD-763A47E9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以数字文本发到心跳主题。</a:t>
            </a:r>
          </a:p>
        </p:txBody>
      </p:sp>
      <p:sp>
        <p:nvSpPr>
          <p:cNvPr id="14" name="text-23xy92-12">
            <a:extLst xmlns:a="http://schemas.openxmlformats.org/drawingml/2006/main">
              <a:ext uri="{FF2B5EF4-FFF2-40B4-BE49-F238E27FC236}">
                <a16:creationId xmlns:a16="http://schemas.microsoft.com/office/drawing/2014/main" id="{681DA205-7533-47F5-92E6-23482D00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收到心跳不等于设备可以安全动作。</a:t>
            </a:r>
          </a:p>
        </p:txBody>
      </p:sp>
    </p:spTree>
    <p:extLst>
      <p:ext uri="{BB962C8B-B14F-4D97-AF65-F5344CB8AC3E}">
        <p14:creationId xmlns:p14="http://schemas.microsoft.com/office/powerpoint/2010/main" val="14025543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ttk02h-0">
            <a:extLst xmlns:a="http://schemas.openxmlformats.org/drawingml/2006/main">
              <a:ext uri="{FF2B5EF4-FFF2-40B4-BE49-F238E27FC236}">
                <a16:creationId xmlns:a16="http://schemas.microsoft.com/office/drawing/2014/main" id="{04198784-1BB0-443A-803D-E9F6C96F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06 / 简单功能</a:t>
            </a:r>
          </a:p>
        </p:txBody>
      </p:sp>
      <p:sp>
        <p:nvSpPr>
          <p:cNvPr id="2" name="text-ttk02h-1">
            <a:extLst xmlns:a="http://schemas.openxmlformats.org/drawingml/2006/main">
              <a:ext uri="{FF2B5EF4-FFF2-40B4-BE49-F238E27FC236}">
                <a16:creationId xmlns:a16="http://schemas.microsoft.com/office/drawing/2014/main" id="{237BC1B2-4EEE-4ABB-9CA0-FE772AFF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三个基础功能支撑消息流转</a:t>
            </a:r>
          </a:p>
        </p:txBody>
      </p:sp>
      <p:sp>
        <p:nvSpPr>
          <p:cNvPr id="3" name="text-ttk02h-2">
            <a:extLst xmlns:a="http://schemas.openxmlformats.org/drawingml/2006/main">
              <a:ext uri="{FF2B5EF4-FFF2-40B4-BE49-F238E27FC236}">
                <a16:creationId xmlns:a16="http://schemas.microsoft.com/office/drawing/2014/main" id="{6286BA18-3A6B-4FFB-B512-84C88116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理解职责即可：周期控制、状态映射、故障信息汇总。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669B8-E897-4E99-9F7D-80A2769B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ttk02h-3">
            <a:extLst xmlns:a="http://schemas.openxmlformats.org/drawingml/2006/main">
              <a:ext uri="{FF2B5EF4-FFF2-40B4-BE49-F238E27FC236}">
                <a16:creationId xmlns:a16="http://schemas.microsoft.com/office/drawing/2014/main" id="{F8E7EC16-18DB-46C3-8CB6-73B591CE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ttk02h-4">
            <a:extLst xmlns:a="http://schemas.openxmlformats.org/drawingml/2006/main">
              <a:ext uri="{FF2B5EF4-FFF2-40B4-BE49-F238E27FC236}">
                <a16:creationId xmlns:a16="http://schemas.microsoft.com/office/drawing/2014/main" id="{CCD2AB80-A993-40A1-9D0D-A45204AD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D29A4-6871-4365-A32B-325C69C1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820"/>
            </a:solidFill>
          </a:ln>
        </p:spPr>
      </p:sp>
      <p:sp>
        <p:nvSpPr>
          <p:cNvPr id="8" name="text-ttk02h-5">
            <a:extLst xmlns:a="http://schemas.openxmlformats.org/drawingml/2006/main">
              <a:ext uri="{FF2B5EF4-FFF2-40B4-BE49-F238E27FC236}">
                <a16:creationId xmlns:a16="http://schemas.microsoft.com/office/drawing/2014/main" id="{6DA64301-9E4F-4292-B6ED-7301AA43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周期控制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C3F5E-F411-4EF4-85BB-3204303A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text-ttk02h-6">
            <a:extLst xmlns:a="http://schemas.openxmlformats.org/drawingml/2006/main">
              <a:ext uri="{FF2B5EF4-FFF2-40B4-BE49-F238E27FC236}">
                <a16:creationId xmlns:a16="http://schemas.microsoft.com/office/drawing/2014/main" id="{9EC04694-5CB5-4F2F-A4E5-D8E3693D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持续发送控制数据</a:t>
            </a:r>
          </a:p>
        </p:txBody>
      </p:sp>
      <p:sp>
        <p:nvSpPr>
          <p:cNvPr id="11" name="text-ttk02h-7">
            <a:extLst xmlns:a="http://schemas.openxmlformats.org/drawingml/2006/main">
              <a:ext uri="{FF2B5EF4-FFF2-40B4-BE49-F238E27FC236}">
                <a16:creationId xmlns:a16="http://schemas.microsoft.com/office/drawing/2014/main" id="{61E40AEB-3C0F-4223-9E6B-8722817E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EdgeToPlcService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发送当前控制数据，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每轮发送后延迟 500 ms。</a:t>
            </a:r>
          </a:p>
        </p:txBody>
      </p:sp>
      <p:sp>
        <p:nvSpPr>
          <p:cNvPr id="12" name="text-ttk02h-8">
            <a:extLst xmlns:a="http://schemas.openxmlformats.org/drawingml/2006/main">
              <a:ext uri="{FF2B5EF4-FFF2-40B4-BE49-F238E27FC236}">
                <a16:creationId xmlns:a16="http://schemas.microsoft.com/office/drawing/2014/main" id="{6F5E314F-79DF-45BC-A2B1-49D8888F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状态映射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45695-4983-4100-A343-7D7EE8D5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4" name="text-ttk02h-9">
            <a:extLst xmlns:a="http://schemas.openxmlformats.org/drawingml/2006/main">
              <a:ext uri="{FF2B5EF4-FFF2-40B4-BE49-F238E27FC236}">
                <a16:creationId xmlns:a16="http://schemas.microsoft.com/office/drawing/2014/main" id="{19E20991-C841-4BCB-96FF-759EAEC1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组织业务状态对象</a:t>
            </a:r>
          </a:p>
        </p:txBody>
      </p:sp>
      <p:sp>
        <p:nvSpPr>
          <p:cNvPr id="15" name="text-ttk02h-10">
            <a:extLst xmlns:a="http://schemas.openxmlformats.org/drawingml/2006/main">
              <a:ext uri="{FF2B5EF4-FFF2-40B4-BE49-F238E27FC236}">
                <a16:creationId xmlns:a16="http://schemas.microsoft.com/office/drawing/2014/main" id="{FAAF1EAF-0536-4652-8ECF-A24215DE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PlcToEdgeService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把 PLC 状态映射到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AllData 的相关字段。</a:t>
            </a:r>
          </a:p>
        </p:txBody>
      </p:sp>
      <p:sp>
        <p:nvSpPr>
          <p:cNvPr id="16" name="text-ttk02h-11">
            <a:extLst xmlns:a="http://schemas.openxmlformats.org/drawingml/2006/main">
              <a:ext uri="{FF2B5EF4-FFF2-40B4-BE49-F238E27FC236}">
                <a16:creationId xmlns:a16="http://schemas.microsoft.com/office/drawing/2014/main" id="{66BA87EC-AEC1-4F3C-998E-F2F66723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故障汇总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BB6D1-CBD1-44DA-AC56-4E3E89C0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8" name="text-ttk02h-12">
            <a:extLst xmlns:a="http://schemas.openxmlformats.org/drawingml/2006/main">
              <a:ext uri="{FF2B5EF4-FFF2-40B4-BE49-F238E27FC236}">
                <a16:creationId xmlns:a16="http://schemas.microsoft.com/office/drawing/2014/main" id="{1C2E2A9F-62C7-4F2E-9F3F-5B7293C9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随状态带出告警</a:t>
            </a:r>
          </a:p>
        </p:txBody>
      </p:sp>
      <p:sp>
        <p:nvSpPr>
          <p:cNvPr id="19" name="text-ttk02h-13">
            <a:extLst xmlns:a="http://schemas.openxmlformats.org/drawingml/2006/main">
              <a:ext uri="{FF2B5EF4-FFF2-40B4-BE49-F238E27FC236}">
                <a16:creationId xmlns:a16="http://schemas.microsoft.com/office/drawing/2014/main" id="{9CAA7877-51EC-463A-97C4-C1F23ABA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故障通道更新告警字典。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数据并入 AllData，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随后续 STATE 发布。</a:t>
            </a:r>
          </a:p>
        </p:txBody>
      </p:sp>
    </p:spTree>
    <p:extLst>
      <p:ext uri="{BB962C8B-B14F-4D97-AF65-F5344CB8AC3E}">
        <p14:creationId xmlns:p14="http://schemas.microsoft.com/office/powerpoint/2010/main" val="5546521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qghnlx-0">
            <a:extLst xmlns:a="http://schemas.openxmlformats.org/drawingml/2006/main">
              <a:ext uri="{FF2B5EF4-FFF2-40B4-BE49-F238E27FC236}">
                <a16:creationId xmlns:a16="http://schemas.microsoft.com/office/drawing/2014/main" id="{816FE8C9-A7CB-4E4C-82F1-2FD83F77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07 / 理解边界</a:t>
            </a:r>
          </a:p>
        </p:txBody>
      </p:sp>
      <p:sp>
        <p:nvSpPr>
          <p:cNvPr id="2" name="text-qghnlx-1">
            <a:extLst xmlns:a="http://schemas.openxmlformats.org/drawingml/2006/main">
              <a:ext uri="{FF2B5EF4-FFF2-40B4-BE49-F238E27FC236}">
                <a16:creationId xmlns:a16="http://schemas.microsoft.com/office/drawing/2014/main" id="{5EBFEEA0-7FF6-403E-9C38-F9B530C5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收到消息不等于设备完成动作</a:t>
            </a:r>
          </a:p>
        </p:txBody>
      </p:sp>
      <p:sp>
        <p:nvSpPr>
          <p:cNvPr id="3" name="text-qghnlx-2">
            <a:extLst xmlns:a="http://schemas.openxmlformats.org/drawingml/2006/main">
              <a:ext uri="{FF2B5EF4-FFF2-40B4-BE49-F238E27FC236}">
                <a16:creationId xmlns:a16="http://schemas.microsoft.com/office/drawing/2014/main" id="{693F4AEB-C760-44E4-ACBE-F2DB756A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每一层只证明自己的结果；不要把“Completed”直接解释成机械到位。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1D94D-2590-4BD4-A8DC-3B58912B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qghnlx-3">
            <a:extLst xmlns:a="http://schemas.openxmlformats.org/drawingml/2006/main">
              <a:ext uri="{FF2B5EF4-FFF2-40B4-BE49-F238E27FC236}">
                <a16:creationId xmlns:a16="http://schemas.microsoft.com/office/drawing/2014/main" id="{3E2B86A1-D4A7-49E2-BA75-EEAC2B5C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qghnlx-4">
            <a:extLst xmlns:a="http://schemas.openxmlformats.org/drawingml/2006/main">
              <a:ext uri="{FF2B5EF4-FFF2-40B4-BE49-F238E27FC236}">
                <a16:creationId xmlns:a16="http://schemas.microsoft.com/office/drawing/2014/main" id="{58BDA722-1709-46BB-BEAB-6B5544A0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4C49A-0401-4891-80A0-2124E65A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820"/>
            </a:solidFill>
          </a:ln>
        </p:spPr>
      </p:sp>
      <p:sp>
        <p:nvSpPr>
          <p:cNvPr id="8" name="text-qghnlx-5">
            <a:extLst xmlns:a="http://schemas.openxmlformats.org/drawingml/2006/main">
              <a:ext uri="{FF2B5EF4-FFF2-40B4-BE49-F238E27FC236}">
                <a16:creationId xmlns:a16="http://schemas.microsoft.com/office/drawing/2014/main" id="{895E138C-ED5D-47BB-B4C6-DF0EE798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消息接收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6DDB6-5174-4B4C-999A-5C5B469B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text-qghnlx-6">
            <a:extLst xmlns:a="http://schemas.openxmlformats.org/drawingml/2006/main">
              <a:ext uri="{FF2B5EF4-FFF2-40B4-BE49-F238E27FC236}">
                <a16:creationId xmlns:a16="http://schemas.microsoft.com/office/drawing/2014/main" id="{2E55EE60-D8D9-4055-B67B-98BCC9A2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到达边缘回调</a:t>
            </a:r>
          </a:p>
        </p:txBody>
      </p:sp>
      <p:sp>
        <p:nvSpPr>
          <p:cNvPr id="11" name="text-qghnlx-7">
            <a:extLst xmlns:a="http://schemas.openxmlformats.org/drawingml/2006/main">
              <a:ext uri="{FF2B5EF4-FFF2-40B4-BE49-F238E27FC236}">
                <a16:creationId xmlns:a16="http://schemas.microsoft.com/office/drawing/2014/main" id="{18ED9209-7031-43EF-A125-56D8B099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说明边缘收到消息。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后面还有解析、排队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以及具体业务处理。</a:t>
            </a:r>
          </a:p>
        </p:txBody>
      </p:sp>
      <p:sp>
        <p:nvSpPr>
          <p:cNvPr id="12" name="text-qghnlx-8">
            <a:extLst xmlns:a="http://schemas.openxmlformats.org/drawingml/2006/main">
              <a:ext uri="{FF2B5EF4-FFF2-40B4-BE49-F238E27FC236}">
                <a16:creationId xmlns:a16="http://schemas.microsoft.com/office/drawing/2014/main" id="{9A0DB6D1-0FDF-44E4-B0B1-E36C2D42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业务回执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8C2DA-47D8-4D9B-B22F-FDB463FD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4" name="text-qghnlx-9">
            <a:extLst xmlns:a="http://schemas.openxmlformats.org/drawingml/2006/main">
              <a:ext uri="{FF2B5EF4-FFF2-40B4-BE49-F238E27FC236}">
                <a16:creationId xmlns:a16="http://schemas.microsoft.com/office/drawing/2014/main" id="{253B5B30-6C01-4C97-82A9-09D9A363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返回处理状态</a:t>
            </a:r>
          </a:p>
        </p:txBody>
      </p:sp>
      <p:sp>
        <p:nvSpPr>
          <p:cNvPr id="15" name="text-qghnlx-10">
            <a:extLst xmlns:a="http://schemas.openxmlformats.org/drawingml/2006/main">
              <a:ext uri="{FF2B5EF4-FFF2-40B4-BE49-F238E27FC236}">
                <a16:creationId xmlns:a16="http://schemas.microsoft.com/office/drawing/2014/main" id="{D60BCE44-30F0-46A8-8FA2-55B5EB36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Completed 的判定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取决于命令实现，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不能统一解释为到位。</a:t>
            </a:r>
          </a:p>
        </p:txBody>
      </p:sp>
      <p:sp>
        <p:nvSpPr>
          <p:cNvPr id="16" name="text-qghnlx-11">
            <a:extLst xmlns:a="http://schemas.openxmlformats.org/drawingml/2006/main">
              <a:ext uri="{FF2B5EF4-FFF2-40B4-BE49-F238E27FC236}">
                <a16:creationId xmlns:a16="http://schemas.microsoft.com/office/drawing/2014/main" id="{528B03D0-747A-4FDC-900D-AD5F854A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设备动作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7A8B0-7604-4F67-895F-EEA664C8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8" name="text-qghnlx-12">
            <a:extLst xmlns:a="http://schemas.openxmlformats.org/drawingml/2006/main">
              <a:ext uri="{FF2B5EF4-FFF2-40B4-BE49-F238E27FC236}">
                <a16:creationId xmlns:a16="http://schemas.microsoft.com/office/drawing/2014/main" id="{A854FB0E-14FE-4F5E-9941-214DA9A7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结合现场状态</a:t>
            </a:r>
          </a:p>
        </p:txBody>
      </p:sp>
      <p:sp>
        <p:nvSpPr>
          <p:cNvPr id="19" name="text-qghnlx-13">
            <a:extLst xmlns:a="http://schemas.openxmlformats.org/drawingml/2006/main">
              <a:ext uri="{FF2B5EF4-FFF2-40B4-BE49-F238E27FC236}">
                <a16:creationId xmlns:a16="http://schemas.microsoft.com/office/drawing/2014/main" id="{87867E0D-C009-4C7D-91B5-FCA2A929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还要查看动作状态、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到位信号和联锁条件。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通信正常不替代验收。</a:t>
            </a:r>
          </a:p>
        </p:txBody>
      </p:sp>
    </p:spTree>
    <p:extLst>
      <p:ext uri="{BB962C8B-B14F-4D97-AF65-F5344CB8AC3E}">
        <p14:creationId xmlns:p14="http://schemas.microsoft.com/office/powerpoint/2010/main" val="8250565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31ixq5-0">
            <a:extLst xmlns:a="http://schemas.openxmlformats.org/drawingml/2006/main">
              <a:ext uri="{FF2B5EF4-FFF2-40B4-BE49-F238E27FC236}">
                <a16:creationId xmlns:a16="http://schemas.microsoft.com/office/drawing/2014/main" id="{29934B68-D5FB-4563-9ADC-55F36C7F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08 / 基础排查</a:t>
            </a:r>
          </a:p>
        </p:txBody>
      </p:sp>
      <p:sp>
        <p:nvSpPr>
          <p:cNvPr id="2" name="text-31ixq5-1">
            <a:extLst xmlns:a="http://schemas.openxmlformats.org/drawingml/2006/main">
              <a:ext uri="{FF2B5EF4-FFF2-40B4-BE49-F238E27FC236}">
                <a16:creationId xmlns:a16="http://schemas.microsoft.com/office/drawing/2014/main" id="{AC59E8DC-76A6-43F5-B13A-7B4C7107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排查按连接、主题、处理、回传顺序</a:t>
            </a:r>
          </a:p>
        </p:txBody>
      </p:sp>
      <p:sp>
        <p:nvSpPr>
          <p:cNvPr id="3" name="text-31ixq5-2">
            <a:extLst xmlns:a="http://schemas.openxmlformats.org/drawingml/2006/main">
              <a:ext uri="{FF2B5EF4-FFF2-40B4-BE49-F238E27FC236}">
                <a16:creationId xmlns:a16="http://schemas.microsoft.com/office/drawing/2014/main" id="{B6BC89AF-656A-43FD-9C9D-D5FF5FB7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先观察配置和日志；任何控制测试都应在授权的隔离环境中进行。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9E864-615D-45CE-AD1E-7B69AEFE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31ixq5-3">
            <a:extLst xmlns:a="http://schemas.openxmlformats.org/drawingml/2006/main">
              <a:ext uri="{FF2B5EF4-FFF2-40B4-BE49-F238E27FC236}">
                <a16:creationId xmlns:a16="http://schemas.microsoft.com/office/drawing/2014/main" id="{9A205357-C95A-4B14-817B-BF7960BB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31ixq5-4">
            <a:extLst xmlns:a="http://schemas.openxmlformats.org/drawingml/2006/main">
              <a:ext uri="{FF2B5EF4-FFF2-40B4-BE49-F238E27FC236}">
                <a16:creationId xmlns:a16="http://schemas.microsoft.com/office/drawing/2014/main" id="{FBE0B903-C3E3-4A8E-B443-9E5116C1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FC889-1F93-4FF0-B256-B373971F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8" name="text-31ixq5-5">
            <a:extLst xmlns:a="http://schemas.openxmlformats.org/drawingml/2006/main">
              <a:ext uri="{FF2B5EF4-FFF2-40B4-BE49-F238E27FC236}">
                <a16:creationId xmlns:a16="http://schemas.microsoft.com/office/drawing/2014/main" id="{7D6F64E2-B80E-4F48-9C8C-BD59C94E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检查点</a:t>
            </a:r>
          </a:p>
        </p:txBody>
      </p:sp>
      <p:sp>
        <p:nvSpPr>
          <p:cNvPr id="9" name="text-31ixq5-6">
            <a:extLst xmlns:a="http://schemas.openxmlformats.org/drawingml/2006/main">
              <a:ext uri="{FF2B5EF4-FFF2-40B4-BE49-F238E27FC236}">
                <a16:creationId xmlns:a16="http://schemas.microsoft.com/office/drawing/2014/main" id="{26BF45ED-1C4C-4153-AA38-60C6F13F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43150"/>
            <a:ext cx="3952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先看什么</a:t>
            </a:r>
          </a:p>
        </p:txBody>
      </p:sp>
      <p:sp>
        <p:nvSpPr>
          <p:cNvPr id="10" name="text-31ixq5-7">
            <a:extLst xmlns:a="http://schemas.openxmlformats.org/drawingml/2006/main">
              <a:ext uri="{FF2B5EF4-FFF2-40B4-BE49-F238E27FC236}">
                <a16:creationId xmlns:a16="http://schemas.microsoft.com/office/drawing/2014/main" id="{2AF4646A-4C1D-4A1D-9CC7-9BAAA00E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43150"/>
            <a:ext cx="4752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重点区分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F2AD2-C0C4-465C-AFCF-4C97CF28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12" name="text-31ixq5-8">
            <a:extLst xmlns:a="http://schemas.openxmlformats.org/drawingml/2006/main">
              <a:ext uri="{FF2B5EF4-FFF2-40B4-BE49-F238E27FC236}">
                <a16:creationId xmlns:a16="http://schemas.microsoft.com/office/drawing/2014/main" id="{F5BFC653-EE9E-4812-A0B3-C56084CB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连接</a:t>
            </a:r>
          </a:p>
        </p:txBody>
      </p:sp>
      <p:sp>
        <p:nvSpPr>
          <p:cNvPr id="13" name="text-31ixq5-9">
            <a:extLst xmlns:a="http://schemas.openxmlformats.org/drawingml/2006/main">
              <a:ext uri="{FF2B5EF4-FFF2-40B4-BE49-F238E27FC236}">
                <a16:creationId xmlns:a16="http://schemas.microsoft.com/office/drawing/2014/main" id="{E6C0BAC4-E97E-4515-AB70-1C0E8DA4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9900"/>
            <a:ext cx="3952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地址、端口、ClientId</a:t>
            </a:r>
          </a:p>
        </p:txBody>
      </p:sp>
      <p:sp>
        <p:nvSpPr>
          <p:cNvPr id="14" name="text-31ixq5-10">
            <a:extLst xmlns:a="http://schemas.openxmlformats.org/drawingml/2006/main">
              <a:ext uri="{FF2B5EF4-FFF2-40B4-BE49-F238E27FC236}">
                <a16:creationId xmlns:a16="http://schemas.microsoft.com/office/drawing/2014/main" id="{11E69333-AF26-42F1-BA2A-CA652F6F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09900"/>
            <a:ext cx="4752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进程启动 ≠ 连接成功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4F77A-7A4A-4F59-871E-730B2F3C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16" name="text-31ixq5-11">
            <a:extLst xmlns:a="http://schemas.openxmlformats.org/drawingml/2006/main">
              <a:ext uri="{FF2B5EF4-FFF2-40B4-BE49-F238E27FC236}">
                <a16:creationId xmlns:a16="http://schemas.microsoft.com/office/drawing/2014/main" id="{9459B3BB-8BA0-4366-8972-C438ABA7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17" name="text-31ixq5-12">
            <a:extLst xmlns:a="http://schemas.openxmlformats.org/drawingml/2006/main">
              <a:ext uri="{FF2B5EF4-FFF2-40B4-BE49-F238E27FC236}">
                <a16:creationId xmlns:a16="http://schemas.microsoft.com/office/drawing/2014/main" id="{4C645EAE-DB29-427B-9D7D-910CEA36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76650"/>
            <a:ext cx="3952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完整名称、大小写、C3</a:t>
            </a:r>
          </a:p>
        </p:txBody>
      </p:sp>
      <p:sp>
        <p:nvSpPr>
          <p:cNvPr id="18" name="text-31ixq5-13">
            <a:extLst xmlns:a="http://schemas.openxmlformats.org/drawingml/2006/main">
              <a:ext uri="{FF2B5EF4-FFF2-40B4-BE49-F238E27FC236}">
                <a16:creationId xmlns:a16="http://schemas.microsoft.com/office/drawing/2014/main" id="{A38D351B-0E98-4936-81F5-CD73CE85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76650"/>
            <a:ext cx="4752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连接成功 ≠ 订阅匹配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CA44F-9866-415E-9590-E0EC8016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20" name="text-31ixq5-14">
            <a:extLst xmlns:a="http://schemas.openxmlformats.org/drawingml/2006/main">
              <a:ext uri="{FF2B5EF4-FFF2-40B4-BE49-F238E27FC236}">
                <a16:creationId xmlns:a16="http://schemas.microsoft.com/office/drawing/2014/main" id="{5FB7D2C3-5D7F-4442-845A-8D094858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命令处理</a:t>
            </a:r>
          </a:p>
        </p:txBody>
      </p:sp>
      <p:sp>
        <p:nvSpPr>
          <p:cNvPr id="21" name="text-31ixq5-15">
            <a:extLst xmlns:a="http://schemas.openxmlformats.org/drawingml/2006/main">
              <a:ext uri="{FF2B5EF4-FFF2-40B4-BE49-F238E27FC236}">
                <a16:creationId xmlns:a16="http://schemas.microsoft.com/office/drawing/2014/main" id="{D449A605-9D7F-43EE-BAD5-7C2144E5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43400"/>
            <a:ext cx="3952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接收、解析、队列、方法</a:t>
            </a:r>
          </a:p>
        </p:txBody>
      </p:sp>
      <p:sp>
        <p:nvSpPr>
          <p:cNvPr id="22" name="text-31ixq5-16">
            <a:extLst xmlns:a="http://schemas.openxmlformats.org/drawingml/2006/main">
              <a:ext uri="{FF2B5EF4-FFF2-40B4-BE49-F238E27FC236}">
                <a16:creationId xmlns:a16="http://schemas.microsoft.com/office/drawing/2014/main" id="{E069DA5A-C194-47A3-85F3-544180E3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43400"/>
            <a:ext cx="4752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消息收到 ≠ 处理成功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87CC6-864F-4D06-B23F-F1E5F22C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24" name="text-31ixq5-17">
            <a:extLst xmlns:a="http://schemas.openxmlformats.org/drawingml/2006/main">
              <a:ext uri="{FF2B5EF4-FFF2-40B4-BE49-F238E27FC236}">
                <a16:creationId xmlns:a16="http://schemas.microsoft.com/office/drawing/2014/main" id="{3C0C5178-4FF0-4582-922C-1118D4F9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结果回传</a:t>
            </a:r>
          </a:p>
        </p:txBody>
      </p:sp>
      <p:sp>
        <p:nvSpPr>
          <p:cNvPr id="25" name="text-31ixq5-18">
            <a:extLst xmlns:a="http://schemas.openxmlformats.org/drawingml/2006/main">
              <a:ext uri="{FF2B5EF4-FFF2-40B4-BE49-F238E27FC236}">
                <a16:creationId xmlns:a16="http://schemas.microsoft.com/office/drawing/2014/main" id="{7641A0B6-E505-4597-A220-A386897E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10150"/>
            <a:ext cx="3952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PLC 状态、STATE、RETURN</a:t>
            </a:r>
          </a:p>
        </p:txBody>
      </p:sp>
      <p:sp>
        <p:nvSpPr>
          <p:cNvPr id="26" name="text-31ixq5-19">
            <a:extLst xmlns:a="http://schemas.openxmlformats.org/drawingml/2006/main">
              <a:ext uri="{FF2B5EF4-FFF2-40B4-BE49-F238E27FC236}">
                <a16:creationId xmlns:a16="http://schemas.microsoft.com/office/drawing/2014/main" id="{98335700-6590-485F-8B58-DCE05556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010150"/>
            <a:ext cx="4752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客户端入队 ≠ 对端收到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B05EDF-909B-40F6-8F27-F0B04E6C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</p:spTree>
    <p:extLst>
      <p:ext uri="{BB962C8B-B14F-4D97-AF65-F5344CB8AC3E}">
        <p14:creationId xmlns:p14="http://schemas.microsoft.com/office/powerpoint/2010/main" val="15657980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ammqmq-0">
            <a:extLst xmlns:a="http://schemas.openxmlformats.org/drawingml/2006/main">
              <a:ext uri="{FF2B5EF4-FFF2-40B4-BE49-F238E27FC236}">
                <a16:creationId xmlns:a16="http://schemas.microsoft.com/office/drawing/2014/main" id="{457188BE-FEF8-4035-8A22-6D19D0AB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09 / 汇报总结</a:t>
            </a:r>
          </a:p>
        </p:txBody>
      </p:sp>
      <p:sp>
        <p:nvSpPr>
          <p:cNvPr id="2" name="text-ammqmq-1">
            <a:extLst xmlns:a="http://schemas.openxmlformats.org/drawingml/2006/main">
              <a:ext uri="{FF2B5EF4-FFF2-40B4-BE49-F238E27FC236}">
                <a16:creationId xmlns:a16="http://schemas.microsoft.com/office/drawing/2014/main" id="{ED6F0D1E-3857-4EF1-B451-E2ACE6C7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记住两条方向、五个主题、三层结果</a:t>
            </a:r>
          </a:p>
        </p:txBody>
      </p:sp>
      <p:sp>
        <p:nvSpPr>
          <p:cNvPr id="3" name="text-ammqmq-2">
            <a:extLst xmlns:a="http://schemas.openxmlformats.org/drawingml/2006/main">
              <a:ext uri="{FF2B5EF4-FFF2-40B4-BE49-F238E27FC236}">
                <a16:creationId xmlns:a16="http://schemas.microsoft.com/office/drawing/2014/main" id="{4D52354C-F394-4872-A30C-40C8A0BE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边缘侧是业务消息与 PLC 数据之间的适配层。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E5F3C-79DB-4A6A-8331-84E70394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BCC4"/>
            </a:solidFill>
          </a:ln>
        </p:spPr>
      </p:sp>
      <p:sp>
        <p:nvSpPr>
          <p:cNvPr id="5" name="text-ammqmq-3">
            <a:extLst xmlns:a="http://schemas.openxmlformats.org/drawingml/2006/main">
              <a:ext uri="{FF2B5EF4-FFF2-40B4-BE49-F238E27FC236}">
                <a16:creationId xmlns:a16="http://schemas.microsoft.com/office/drawing/2014/main" id="{22518CD9-A5DF-486F-8F3C-FECE4E8D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SREdgeCompute_TCP  ·  MQTT 入门汇报</a:t>
            </a:r>
          </a:p>
        </p:txBody>
      </p:sp>
      <p:sp>
        <p:nvSpPr>
          <p:cNvPr id="6" name="text-ammqmq-4">
            <a:extLst xmlns:a="http://schemas.openxmlformats.org/drawingml/2006/main">
              <a:ext uri="{FF2B5EF4-FFF2-40B4-BE49-F238E27FC236}">
                <a16:creationId xmlns:a16="http://schemas.microsoft.com/office/drawing/2014/main" id="{E7B40C6E-C914-4D26-AB50-B45E4FC4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16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4214D-9140-4F58-81DD-85F4B512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820"/>
            </a:solidFill>
          </a:ln>
        </p:spPr>
      </p:sp>
      <p:sp>
        <p:nvSpPr>
          <p:cNvPr id="8" name="text-ammqmq-5">
            <a:extLst xmlns:a="http://schemas.openxmlformats.org/drawingml/2006/main">
              <a:ext uri="{FF2B5EF4-FFF2-40B4-BE49-F238E27FC236}">
                <a16:creationId xmlns:a16="http://schemas.microsoft.com/office/drawing/2014/main" id="{81545AD9-3E09-4E69-B108-4CE0B72F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两条方向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EAFFF-142E-4E92-B37F-6C876D6E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text-ammqmq-6">
            <a:extLst xmlns:a="http://schemas.openxmlformats.org/drawingml/2006/main">
              <a:ext uri="{FF2B5EF4-FFF2-40B4-BE49-F238E27FC236}">
                <a16:creationId xmlns:a16="http://schemas.microsoft.com/office/drawing/2014/main" id="{92DD3245-5545-4E7D-8D64-FCD8357E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命令下行与状态上行</a:t>
            </a:r>
          </a:p>
        </p:txBody>
      </p:sp>
      <p:sp>
        <p:nvSpPr>
          <p:cNvPr id="11" name="text-ammqmq-7">
            <a:extLst xmlns:a="http://schemas.openxmlformats.org/drawingml/2006/main">
              <a:ext uri="{FF2B5EF4-FFF2-40B4-BE49-F238E27FC236}">
                <a16:creationId xmlns:a16="http://schemas.microsoft.com/office/drawing/2014/main" id="{5EBD8FDD-79CC-4BF9-ADE0-9389FE38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下行：MQTT → 命令处理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→ PLC 控制。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上行：PLC 状态 → MQTT。</a:t>
            </a:r>
          </a:p>
        </p:txBody>
      </p:sp>
      <p:sp>
        <p:nvSpPr>
          <p:cNvPr id="12" name="text-ammqmq-8">
            <a:extLst xmlns:a="http://schemas.openxmlformats.org/drawingml/2006/main">
              <a:ext uri="{FF2B5EF4-FFF2-40B4-BE49-F238E27FC236}">
                <a16:creationId xmlns:a16="http://schemas.microsoft.com/office/drawing/2014/main" id="{6123DECC-4B80-4B78-9F7F-A9A4D2D0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五个主题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347D6-F598-4B41-B674-4ADBFA7A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4" name="text-ammqmq-9">
            <a:extLst xmlns:a="http://schemas.openxmlformats.org/drawingml/2006/main">
              <a:ext uri="{FF2B5EF4-FFF2-40B4-BE49-F238E27FC236}">
                <a16:creationId xmlns:a16="http://schemas.microsoft.com/office/drawing/2014/main" id="{FF765692-15B4-48E8-9DE1-7B14A6CA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按用途分清消息</a:t>
            </a:r>
          </a:p>
        </p:txBody>
      </p:sp>
      <p:sp>
        <p:nvSpPr>
          <p:cNvPr id="15" name="text-ammqmq-10">
            <a:extLst xmlns:a="http://schemas.openxmlformats.org/drawingml/2006/main">
              <a:ext uri="{FF2B5EF4-FFF2-40B4-BE49-F238E27FC236}">
                <a16:creationId xmlns:a16="http://schemas.microsoft.com/office/drawing/2014/main" id="{4E48322C-98B7-4154-9BE2-E0DB90A6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CMD、STATE、RETURN，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再加业务心跳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与毫米波数据输入。</a:t>
            </a:r>
          </a:p>
        </p:txBody>
      </p:sp>
      <p:sp>
        <p:nvSpPr>
          <p:cNvPr id="16" name="text-ammqmq-11">
            <a:extLst xmlns:a="http://schemas.openxmlformats.org/drawingml/2006/main">
              <a:ext uri="{FF2B5EF4-FFF2-40B4-BE49-F238E27FC236}">
                <a16:creationId xmlns:a16="http://schemas.microsoft.com/office/drawing/2014/main" id="{ABAF2032-B664-4B41-8942-00559771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457450"/>
            <a:ext cx="341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71A3"/>
                </a:solidFill>
                <a:latin typeface="Microsoft YaHei"/>
                <a:ea typeface="Microsoft YaHei"/>
                <a:cs typeface="Microsoft YaHei"/>
              </a:rPr>
              <a:t>三层结果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C4A7C-C2B4-4C45-8770-EE0BD58A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8" name="text-ammqmq-12">
            <a:extLst xmlns:a="http://schemas.openxmlformats.org/drawingml/2006/main">
              <a:ext uri="{FF2B5EF4-FFF2-40B4-BE49-F238E27FC236}">
                <a16:creationId xmlns:a16="http://schemas.microsoft.com/office/drawing/2014/main" id="{57D64FE1-EF54-444E-8589-A78F2A43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600450"/>
            <a:ext cx="341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接收、处理与动作</a:t>
            </a:r>
          </a:p>
        </p:txBody>
      </p:sp>
      <p:sp>
        <p:nvSpPr>
          <p:cNvPr id="19" name="text-ammqmq-13">
            <a:extLst xmlns:a="http://schemas.openxmlformats.org/drawingml/2006/main">
              <a:ext uri="{FF2B5EF4-FFF2-40B4-BE49-F238E27FC236}">
                <a16:creationId xmlns:a16="http://schemas.microsoft.com/office/drawing/2014/main" id="{85403D27-956F-421D-93F0-89FA2C4D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229100"/>
            <a:ext cx="3416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消息到了哪里，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业务确认到了哪一步，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设备实际完成了什么。</a:t>
            </a:r>
          </a:p>
        </p:txBody>
      </p:sp>
    </p:spTree>
    <p:extLst>
      <p:ext uri="{BB962C8B-B14F-4D97-AF65-F5344CB8AC3E}">
        <p14:creationId xmlns:p14="http://schemas.microsoft.com/office/powerpoint/2010/main" val="1918564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2026-08-29T00:12:08.7500000Z</dcterms:created>
  <dcterms:modified xsi:type="dcterms:W3CDTF">2026-08-29T00:12:08.7500000Z</dcterms:modified>
</coreProperties>
</file>